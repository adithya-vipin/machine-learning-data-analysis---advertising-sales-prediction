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6" r:id="rId2"/>
    <p:sldId id="278" r:id="rId3"/>
    <p:sldId id="258" r:id="rId4"/>
    <p:sldId id="303" r:id="rId5"/>
    <p:sldId id="313" r:id="rId6"/>
    <p:sldId id="312" r:id="rId7"/>
    <p:sldId id="314" r:id="rId8"/>
    <p:sldId id="315" r:id="rId9"/>
    <p:sldId id="316" r:id="rId10"/>
    <p:sldId id="317" r:id="rId11"/>
    <p:sldId id="309" r:id="rId12"/>
    <p:sldId id="308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E44F9D-8C3E-4380-B70C-CCF7F9F0DC9B}" v="123" dt="2025-09-05T21:38:09.331"/>
    <p1510:client id="{219F887A-4396-E495-9935-3A6A5DA0939C}" v="591" dt="2025-09-04T23:55:44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0A7D84-F0FA-4BB7-B6D9-A11B99EE5C1D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5F42ED51-64A5-4F66-BB72-81B7C74FF9AB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500" b="0" dirty="0">
              <a:solidFill>
                <a:srgbClr val="212121"/>
              </a:solidFill>
              <a:ea typeface="+mn-ea"/>
              <a:cs typeface="+mn-cs"/>
            </a:rPr>
            <a:t>To examine the impact of different advertising channels (TV, Radio, and Newspaper) on product sales using regression analysis.</a:t>
          </a:r>
          <a:endParaRPr lang="en-US" sz="1500" b="0" dirty="0">
            <a:solidFill>
              <a:srgbClr val="212121"/>
            </a:solidFill>
            <a:latin typeface="Aptos Display"/>
            <a:ea typeface="+mn-ea"/>
            <a:cs typeface="+mn-cs"/>
          </a:endParaRPr>
        </a:p>
      </dgm:t>
    </dgm:pt>
    <dgm:pt modelId="{A2C97AC9-6250-4685-9989-11B660E98D38}" type="parTrans" cxnId="{E11F650D-66D4-4022-87B5-A9159333FA76}">
      <dgm:prSet/>
      <dgm:spPr/>
    </dgm:pt>
    <dgm:pt modelId="{78D635CD-EC07-48B3-8AA1-E290F2DD088C}" type="sibTrans" cxnId="{E11F650D-66D4-4022-87B5-A9159333FA76}">
      <dgm:prSet/>
      <dgm:spPr/>
    </dgm:pt>
    <dgm:pt modelId="{B4DD6E89-2356-4C1C-9EF6-F93F4BC426A3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500" b="0" dirty="0">
              <a:solidFill>
                <a:srgbClr val="212121"/>
              </a:solidFill>
              <a:ea typeface="+mn-ea"/>
              <a:cs typeface="+mn-cs"/>
            </a:rPr>
            <a:t>To determine which medium contributes most significantly to sales and should be prioritized in budget allocation.</a:t>
          </a:r>
          <a:endParaRPr lang="en-US" sz="1500" dirty="0">
            <a:solidFill>
              <a:srgbClr val="212121"/>
            </a:solidFill>
            <a:ea typeface="+mn-ea"/>
            <a:cs typeface="+mn-cs"/>
          </a:endParaRPr>
        </a:p>
      </dgm:t>
    </dgm:pt>
    <dgm:pt modelId="{5F799784-A1D1-4C0E-932A-035F9288AAFA}" type="parTrans" cxnId="{D1084BD8-C0AA-4487-82D8-E169B04E9EE6}">
      <dgm:prSet/>
      <dgm:spPr/>
    </dgm:pt>
    <dgm:pt modelId="{7AEB63B7-3C13-45AD-8A70-13F8C5A371B1}" type="sibTrans" cxnId="{D1084BD8-C0AA-4487-82D8-E169B04E9EE6}">
      <dgm:prSet/>
      <dgm:spPr/>
    </dgm:pt>
    <dgm:pt modelId="{DD240D3A-904C-46BF-904A-75D00F11C5EE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500" b="0" dirty="0">
              <a:solidFill>
                <a:srgbClr val="212121"/>
              </a:solidFill>
              <a:ea typeface="+mn-ea"/>
              <a:cs typeface="+mn-cs"/>
            </a:rPr>
            <a:t>To evaluate the overall performance of a multiple linear regression model in predicting sales based on advertising expenditures.</a:t>
          </a:r>
          <a:endParaRPr lang="en-US" sz="1500" dirty="0">
            <a:solidFill>
              <a:srgbClr val="212121"/>
            </a:solidFill>
            <a:ea typeface="+mn-ea"/>
            <a:cs typeface="+mn-cs"/>
          </a:endParaRPr>
        </a:p>
      </dgm:t>
    </dgm:pt>
    <dgm:pt modelId="{33EAB87B-A7D7-4C96-8400-D2896AD0121F}" type="parTrans" cxnId="{920E4354-B2B1-48E9-B0D0-1EEDB184FB47}">
      <dgm:prSet/>
      <dgm:spPr/>
    </dgm:pt>
    <dgm:pt modelId="{580F00CE-FB4D-423A-8358-24FF37FECCBE}" type="sibTrans" cxnId="{920E4354-B2B1-48E9-B0D0-1EEDB184FB47}">
      <dgm:prSet/>
      <dgm:spPr/>
    </dgm:pt>
    <dgm:pt modelId="{A4584F7D-8259-459C-A5A7-8B5B294179B8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500" b="0" dirty="0">
              <a:solidFill>
                <a:srgbClr val="212121"/>
              </a:solidFill>
              <a:ea typeface="+mn-ea"/>
              <a:cs typeface="+mn-cs"/>
            </a:rPr>
            <a:t>To assess the effect of normalization on model performance and the interpretability of regression coefficients.</a:t>
          </a:r>
          <a:endParaRPr lang="en-US" sz="1500" dirty="0">
            <a:solidFill>
              <a:srgbClr val="212121"/>
            </a:solidFill>
            <a:ea typeface="+mn-ea"/>
            <a:cs typeface="+mn-cs"/>
          </a:endParaRPr>
        </a:p>
      </dgm:t>
    </dgm:pt>
    <dgm:pt modelId="{01D1F889-F949-4A46-B007-F6F318716037}" type="parTrans" cxnId="{45B0CA30-1A27-4057-A3AA-F6F4102A8D03}">
      <dgm:prSet/>
      <dgm:spPr/>
    </dgm:pt>
    <dgm:pt modelId="{C1478EFC-13F5-4F5E-9AB6-00B881B88C87}" type="sibTrans" cxnId="{45B0CA30-1A27-4057-A3AA-F6F4102A8D03}">
      <dgm:prSet/>
      <dgm:spPr/>
    </dgm:pt>
    <dgm:pt modelId="{4F77702E-BCFA-4473-9FA1-9C853CA603E9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sz="1500" b="0" dirty="0">
              <a:solidFill>
                <a:srgbClr val="212121"/>
              </a:solidFill>
              <a:ea typeface="+mn-ea"/>
              <a:cs typeface="+mn-cs"/>
            </a:rPr>
            <a:t>To explore how sales predictions change when certain advertising variables (such as TV) are excluded, thereby testing the relative importance of each predictor.</a:t>
          </a:r>
          <a:endParaRPr lang="en-US" sz="1500" dirty="0">
            <a:solidFill>
              <a:srgbClr val="212121"/>
            </a:solidFill>
            <a:ea typeface="+mn-ea"/>
            <a:cs typeface="+mn-cs"/>
          </a:endParaRPr>
        </a:p>
      </dgm:t>
    </dgm:pt>
    <dgm:pt modelId="{9BD576F8-DB68-4E61-8080-590EB41A89BA}" type="parTrans" cxnId="{5F315CCE-53CA-4F8F-B11B-260135EDFE33}">
      <dgm:prSet/>
      <dgm:spPr/>
    </dgm:pt>
    <dgm:pt modelId="{F968BD4A-67E6-4A78-844F-854FF53AC295}" type="sibTrans" cxnId="{5F315CCE-53CA-4F8F-B11B-260135EDFE33}">
      <dgm:prSet/>
      <dgm:spPr/>
    </dgm:pt>
    <dgm:pt modelId="{09CAD107-235A-4AC8-85CD-A0A2073C1B09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1500" dirty="0">
              <a:solidFill>
                <a:srgbClr val="212121"/>
              </a:solidFill>
              <a:ea typeface="+mn-ea"/>
              <a:cs typeface="+mn-cs"/>
            </a:rPr>
            <a:t>To provide actionable insights and recommendations that can guide the company’s advertising strategy for maximizing sales and return on investment.</a:t>
          </a:r>
          <a:endParaRPr lang="en-US" sz="1500" dirty="0">
            <a:solidFill>
              <a:srgbClr val="212121"/>
            </a:solidFill>
            <a:latin typeface="Garamond" panose="02020404030301010803"/>
            <a:ea typeface="+mn-ea"/>
            <a:cs typeface="+mn-cs"/>
          </a:endParaRPr>
        </a:p>
      </dgm:t>
    </dgm:pt>
    <dgm:pt modelId="{4F3BD28C-1744-4CE2-9E48-EE353BB5CAC8}" type="parTrans" cxnId="{8051E4D6-5DC4-40D4-89E8-B9F22F653789}">
      <dgm:prSet/>
      <dgm:spPr/>
    </dgm:pt>
    <dgm:pt modelId="{C04DFE7D-91CA-4B72-8000-C47A19CECE08}" type="sibTrans" cxnId="{8051E4D6-5DC4-40D4-89E8-B9F22F653789}">
      <dgm:prSet/>
      <dgm:spPr/>
    </dgm:pt>
    <dgm:pt modelId="{F1196E0C-D6ED-48D8-9A85-4D1B8D720A1B}" type="pres">
      <dgm:prSet presAssocID="{EF0A7D84-F0FA-4BB7-B6D9-A11B99EE5C1D}" presName="linear" presStyleCnt="0">
        <dgm:presLayoutVars>
          <dgm:animLvl val="lvl"/>
          <dgm:resizeHandles val="exact"/>
        </dgm:presLayoutVars>
      </dgm:prSet>
      <dgm:spPr/>
    </dgm:pt>
    <dgm:pt modelId="{36D1B1DD-D517-4B8F-9335-27CB87F9BD32}" type="pres">
      <dgm:prSet presAssocID="{5F42ED51-64A5-4F66-BB72-81B7C74FF9A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211E801-8927-46E6-A944-668F76267EF2}" type="pres">
      <dgm:prSet presAssocID="{78D635CD-EC07-48B3-8AA1-E290F2DD088C}" presName="spacer" presStyleCnt="0"/>
      <dgm:spPr/>
    </dgm:pt>
    <dgm:pt modelId="{622DB00B-A857-463A-9C4F-2A8C3B95F47E}" type="pres">
      <dgm:prSet presAssocID="{B4DD6E89-2356-4C1C-9EF6-F93F4BC426A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1839D95-2802-4131-85C6-417DC4178B77}" type="pres">
      <dgm:prSet presAssocID="{7AEB63B7-3C13-45AD-8A70-13F8C5A371B1}" presName="spacer" presStyleCnt="0"/>
      <dgm:spPr/>
    </dgm:pt>
    <dgm:pt modelId="{3794E23C-DC3E-4CA2-95FE-37E89D6C9CDB}" type="pres">
      <dgm:prSet presAssocID="{DD240D3A-904C-46BF-904A-75D00F11C5E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AC517C8-022A-4885-89AB-81F89D0663B1}" type="pres">
      <dgm:prSet presAssocID="{580F00CE-FB4D-423A-8358-24FF37FECCBE}" presName="spacer" presStyleCnt="0"/>
      <dgm:spPr/>
    </dgm:pt>
    <dgm:pt modelId="{714F29DD-E58A-4DC4-8D32-844BA1D6B6DE}" type="pres">
      <dgm:prSet presAssocID="{A4584F7D-8259-459C-A5A7-8B5B294179B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68F0691-D011-43E8-B916-BEB0E7126E47}" type="pres">
      <dgm:prSet presAssocID="{C1478EFC-13F5-4F5E-9AB6-00B881B88C87}" presName="spacer" presStyleCnt="0"/>
      <dgm:spPr/>
    </dgm:pt>
    <dgm:pt modelId="{415CAB21-3E29-4EB0-810C-D47D35B5C739}" type="pres">
      <dgm:prSet presAssocID="{4F77702E-BCFA-4473-9FA1-9C853CA603E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56B9C8F-41F7-44B6-B53C-62BD5D6B844C}" type="pres">
      <dgm:prSet presAssocID="{F968BD4A-67E6-4A78-844F-854FF53AC295}" presName="spacer" presStyleCnt="0"/>
      <dgm:spPr/>
    </dgm:pt>
    <dgm:pt modelId="{7AC28D2F-C93D-4C1A-854E-B73509DF7D9D}" type="pres">
      <dgm:prSet presAssocID="{09CAD107-235A-4AC8-85CD-A0A2073C1B0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11F650D-66D4-4022-87B5-A9159333FA76}" srcId="{EF0A7D84-F0FA-4BB7-B6D9-A11B99EE5C1D}" destId="{5F42ED51-64A5-4F66-BB72-81B7C74FF9AB}" srcOrd="0" destOrd="0" parTransId="{A2C97AC9-6250-4685-9989-11B660E98D38}" sibTransId="{78D635CD-EC07-48B3-8AA1-E290F2DD088C}"/>
    <dgm:cxn modelId="{F1A82816-3063-48B7-AD3B-5D50888F1529}" type="presOf" srcId="{09CAD107-235A-4AC8-85CD-A0A2073C1B09}" destId="{7AC28D2F-C93D-4C1A-854E-B73509DF7D9D}" srcOrd="0" destOrd="0" presId="urn:microsoft.com/office/officeart/2005/8/layout/vList2"/>
    <dgm:cxn modelId="{5A4C4D24-2D29-47D3-8AD0-2D887BBAD230}" type="presOf" srcId="{5F42ED51-64A5-4F66-BB72-81B7C74FF9AB}" destId="{36D1B1DD-D517-4B8F-9335-27CB87F9BD32}" srcOrd="0" destOrd="0" presId="urn:microsoft.com/office/officeart/2005/8/layout/vList2"/>
    <dgm:cxn modelId="{45B0CA30-1A27-4057-A3AA-F6F4102A8D03}" srcId="{EF0A7D84-F0FA-4BB7-B6D9-A11B99EE5C1D}" destId="{A4584F7D-8259-459C-A5A7-8B5B294179B8}" srcOrd="3" destOrd="0" parTransId="{01D1F889-F949-4A46-B007-F6F318716037}" sibTransId="{C1478EFC-13F5-4F5E-9AB6-00B881B88C87}"/>
    <dgm:cxn modelId="{F6637C39-E4DE-4B6E-BDED-181C539627CC}" type="presOf" srcId="{4F77702E-BCFA-4473-9FA1-9C853CA603E9}" destId="{415CAB21-3E29-4EB0-810C-D47D35B5C739}" srcOrd="0" destOrd="0" presId="urn:microsoft.com/office/officeart/2005/8/layout/vList2"/>
    <dgm:cxn modelId="{A1E2253E-3C09-41A0-97E5-0F374DA2DB26}" type="presOf" srcId="{A4584F7D-8259-459C-A5A7-8B5B294179B8}" destId="{714F29DD-E58A-4DC4-8D32-844BA1D6B6DE}" srcOrd="0" destOrd="0" presId="urn:microsoft.com/office/officeart/2005/8/layout/vList2"/>
    <dgm:cxn modelId="{920E4354-B2B1-48E9-B0D0-1EEDB184FB47}" srcId="{EF0A7D84-F0FA-4BB7-B6D9-A11B99EE5C1D}" destId="{DD240D3A-904C-46BF-904A-75D00F11C5EE}" srcOrd="2" destOrd="0" parTransId="{33EAB87B-A7D7-4C96-8400-D2896AD0121F}" sibTransId="{580F00CE-FB4D-423A-8358-24FF37FECCBE}"/>
    <dgm:cxn modelId="{12650780-162C-46DC-BE85-4BAB81F22EF0}" type="presOf" srcId="{DD240D3A-904C-46BF-904A-75D00F11C5EE}" destId="{3794E23C-DC3E-4CA2-95FE-37E89D6C9CDB}" srcOrd="0" destOrd="0" presId="urn:microsoft.com/office/officeart/2005/8/layout/vList2"/>
    <dgm:cxn modelId="{0740639A-79F6-4417-AB35-99A20E2648FF}" type="presOf" srcId="{EF0A7D84-F0FA-4BB7-B6D9-A11B99EE5C1D}" destId="{F1196E0C-D6ED-48D8-9A85-4D1B8D720A1B}" srcOrd="0" destOrd="0" presId="urn:microsoft.com/office/officeart/2005/8/layout/vList2"/>
    <dgm:cxn modelId="{5F315CCE-53CA-4F8F-B11B-260135EDFE33}" srcId="{EF0A7D84-F0FA-4BB7-B6D9-A11B99EE5C1D}" destId="{4F77702E-BCFA-4473-9FA1-9C853CA603E9}" srcOrd="4" destOrd="0" parTransId="{9BD576F8-DB68-4E61-8080-590EB41A89BA}" sibTransId="{F968BD4A-67E6-4A78-844F-854FF53AC295}"/>
    <dgm:cxn modelId="{8051E4D6-5DC4-40D4-89E8-B9F22F653789}" srcId="{EF0A7D84-F0FA-4BB7-B6D9-A11B99EE5C1D}" destId="{09CAD107-235A-4AC8-85CD-A0A2073C1B09}" srcOrd="5" destOrd="0" parTransId="{4F3BD28C-1744-4CE2-9E48-EE353BB5CAC8}" sibTransId="{C04DFE7D-91CA-4B72-8000-C47A19CECE08}"/>
    <dgm:cxn modelId="{D1084BD8-C0AA-4487-82D8-E169B04E9EE6}" srcId="{EF0A7D84-F0FA-4BB7-B6D9-A11B99EE5C1D}" destId="{B4DD6E89-2356-4C1C-9EF6-F93F4BC426A3}" srcOrd="1" destOrd="0" parTransId="{5F799784-A1D1-4C0E-932A-035F9288AAFA}" sibTransId="{7AEB63B7-3C13-45AD-8A70-13F8C5A371B1}"/>
    <dgm:cxn modelId="{07B316EC-3C70-4C7F-A9D3-9D9E082A76E7}" type="presOf" srcId="{B4DD6E89-2356-4C1C-9EF6-F93F4BC426A3}" destId="{622DB00B-A857-463A-9C4F-2A8C3B95F47E}" srcOrd="0" destOrd="0" presId="urn:microsoft.com/office/officeart/2005/8/layout/vList2"/>
    <dgm:cxn modelId="{C2522551-0A34-4A04-A0CD-7AE34330584A}" type="presParOf" srcId="{F1196E0C-D6ED-48D8-9A85-4D1B8D720A1B}" destId="{36D1B1DD-D517-4B8F-9335-27CB87F9BD32}" srcOrd="0" destOrd="0" presId="urn:microsoft.com/office/officeart/2005/8/layout/vList2"/>
    <dgm:cxn modelId="{3185AA91-0825-4062-9D2B-4354B14FF30D}" type="presParOf" srcId="{F1196E0C-D6ED-48D8-9A85-4D1B8D720A1B}" destId="{1211E801-8927-46E6-A944-668F76267EF2}" srcOrd="1" destOrd="0" presId="urn:microsoft.com/office/officeart/2005/8/layout/vList2"/>
    <dgm:cxn modelId="{C07A58A0-CEDC-4B77-BAE2-C97A6213A20A}" type="presParOf" srcId="{F1196E0C-D6ED-48D8-9A85-4D1B8D720A1B}" destId="{622DB00B-A857-463A-9C4F-2A8C3B95F47E}" srcOrd="2" destOrd="0" presId="urn:microsoft.com/office/officeart/2005/8/layout/vList2"/>
    <dgm:cxn modelId="{52D0DE64-FCFE-43F7-9047-D4B5367D3D9D}" type="presParOf" srcId="{F1196E0C-D6ED-48D8-9A85-4D1B8D720A1B}" destId="{B1839D95-2802-4131-85C6-417DC4178B77}" srcOrd="3" destOrd="0" presId="urn:microsoft.com/office/officeart/2005/8/layout/vList2"/>
    <dgm:cxn modelId="{0F74127E-26A5-4776-9950-B6D0983F0C0E}" type="presParOf" srcId="{F1196E0C-D6ED-48D8-9A85-4D1B8D720A1B}" destId="{3794E23C-DC3E-4CA2-95FE-37E89D6C9CDB}" srcOrd="4" destOrd="0" presId="urn:microsoft.com/office/officeart/2005/8/layout/vList2"/>
    <dgm:cxn modelId="{98AEC482-033F-4681-B14E-5D33185D3577}" type="presParOf" srcId="{F1196E0C-D6ED-48D8-9A85-4D1B8D720A1B}" destId="{6AC517C8-022A-4885-89AB-81F89D0663B1}" srcOrd="5" destOrd="0" presId="urn:microsoft.com/office/officeart/2005/8/layout/vList2"/>
    <dgm:cxn modelId="{09CEA6D5-B9C2-4BC2-A785-4930BC6A3C01}" type="presParOf" srcId="{F1196E0C-D6ED-48D8-9A85-4D1B8D720A1B}" destId="{714F29DD-E58A-4DC4-8D32-844BA1D6B6DE}" srcOrd="6" destOrd="0" presId="urn:microsoft.com/office/officeart/2005/8/layout/vList2"/>
    <dgm:cxn modelId="{858F8590-E285-4A91-B2DD-A7BBCF6BEFC9}" type="presParOf" srcId="{F1196E0C-D6ED-48D8-9A85-4D1B8D720A1B}" destId="{968F0691-D011-43E8-B916-BEB0E7126E47}" srcOrd="7" destOrd="0" presId="urn:microsoft.com/office/officeart/2005/8/layout/vList2"/>
    <dgm:cxn modelId="{5FFE383D-9501-4FBA-B428-3B8B0B574D3F}" type="presParOf" srcId="{F1196E0C-D6ED-48D8-9A85-4D1B8D720A1B}" destId="{415CAB21-3E29-4EB0-810C-D47D35B5C739}" srcOrd="8" destOrd="0" presId="urn:microsoft.com/office/officeart/2005/8/layout/vList2"/>
    <dgm:cxn modelId="{5D391214-52F3-4146-9FC9-89DEC2DF1B98}" type="presParOf" srcId="{F1196E0C-D6ED-48D8-9A85-4D1B8D720A1B}" destId="{B56B9C8F-41F7-44B6-B53C-62BD5D6B844C}" srcOrd="9" destOrd="0" presId="urn:microsoft.com/office/officeart/2005/8/layout/vList2"/>
    <dgm:cxn modelId="{9022FC44-1D08-4BE0-9347-19C19080D4DF}" type="presParOf" srcId="{F1196E0C-D6ED-48D8-9A85-4D1B8D720A1B}" destId="{7AC28D2F-C93D-4C1A-854E-B73509DF7D9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A384C5-1F43-422C-ADF6-041BCE2CA489}" type="doc">
      <dgm:prSet loTypeId="urn:microsoft.com/office/officeart/2005/8/layout/default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0675CA3E-8C46-4EDA-B816-CCD75AFF3F46}">
      <dgm:prSet phldr="0"/>
      <dgm:spPr/>
      <dgm:t>
        <a:bodyPr/>
        <a:lstStyle/>
        <a:p>
          <a:pPr algn="l" rtl="0"/>
          <a:r>
            <a:rPr lang="en-GB" sz="2000" b="1" dirty="0">
              <a:latin typeface="Garamond"/>
              <a:ea typeface="Calibri"/>
              <a:cs typeface="Calibri"/>
            </a:rPr>
            <a:t>Result:</a:t>
          </a:r>
          <a:r>
            <a:rPr lang="en-GB" sz="2000" dirty="0">
              <a:latin typeface="Garamond"/>
              <a:ea typeface="Calibri"/>
              <a:cs typeface="Calibri"/>
            </a:rPr>
            <a:t> </a:t>
          </a:r>
          <a:br>
            <a:rPr lang="en-GB" sz="2000" dirty="0">
              <a:solidFill>
                <a:srgbClr val="000000"/>
              </a:solidFill>
              <a:latin typeface="Garamond"/>
              <a:ea typeface="Calibri"/>
              <a:cs typeface="Calibri"/>
            </a:rPr>
          </a:br>
          <a:r>
            <a:rPr lang="en-GB" sz="2000" dirty="0">
              <a:latin typeface="Garamond"/>
              <a:ea typeface="Calibri"/>
              <a:cs typeface="Calibri"/>
            </a:rPr>
            <a:t>Average TV spend = 147.04 units.</a:t>
          </a:r>
          <a:endParaRPr lang="en-GB" sz="1800" dirty="0">
            <a:latin typeface="Garamond"/>
            <a:ea typeface="Calibri"/>
            <a:cs typeface="Calibri"/>
          </a:endParaRPr>
        </a:p>
      </dgm:t>
    </dgm:pt>
    <dgm:pt modelId="{D47F439F-B733-40F1-A7DD-232F754FD437}" type="parTrans" cxnId="{6176E8BD-F987-4912-8317-9117DB275A7F}">
      <dgm:prSet/>
      <dgm:spPr/>
    </dgm:pt>
    <dgm:pt modelId="{B347FC2E-B8CD-44AA-BD9F-A4730AD547EF}" type="sibTrans" cxnId="{6176E8BD-F987-4912-8317-9117DB275A7F}">
      <dgm:prSet/>
      <dgm:spPr/>
    </dgm:pt>
    <dgm:pt modelId="{55B7DFE8-593E-41C1-A94B-398DFA7D6152}">
      <dgm:prSet phldr="0"/>
      <dgm:spPr/>
      <dgm:t>
        <a:bodyPr/>
        <a:lstStyle/>
        <a:p>
          <a:pPr algn="l" rtl="0"/>
          <a:r>
            <a:rPr lang="en-GB" sz="2000" b="1" dirty="0">
              <a:latin typeface="Garamond"/>
              <a:ea typeface="Calibri"/>
              <a:cs typeface="Calibri"/>
            </a:rPr>
            <a:t>Observation:</a:t>
          </a:r>
          <a:r>
            <a:rPr lang="en-GB" sz="2000" dirty="0">
              <a:latin typeface="Garamond"/>
              <a:ea typeface="Calibri"/>
              <a:cs typeface="Calibri"/>
            </a:rPr>
            <a:t> </a:t>
          </a:r>
          <a:br>
            <a:rPr lang="en-GB" sz="2000" dirty="0">
              <a:latin typeface="Garamond"/>
              <a:ea typeface="Calibri"/>
              <a:cs typeface="Calibri"/>
            </a:rPr>
          </a:br>
          <a:r>
            <a:rPr lang="en-GB" sz="2000" dirty="0">
              <a:latin typeface="Garamond"/>
              <a:ea typeface="Calibri"/>
              <a:cs typeface="Calibri"/>
            </a:rPr>
            <a:t>TV receives the highest investment compared to other channels.</a:t>
          </a:r>
          <a:endParaRPr lang="en-GB" dirty="0">
            <a:latin typeface="Garamond"/>
            <a:ea typeface="Calibri"/>
            <a:cs typeface="Calibri"/>
          </a:endParaRPr>
        </a:p>
      </dgm:t>
    </dgm:pt>
    <dgm:pt modelId="{12512CE8-D1CD-4F9F-BA5C-90E36C6C89C9}" type="parTrans" cxnId="{63A5FA9B-FCD9-4211-94D5-CFE071693354}">
      <dgm:prSet/>
      <dgm:spPr/>
    </dgm:pt>
    <dgm:pt modelId="{E1BB6F51-F9C5-459C-BF1D-1B6FE2C3E686}" type="sibTrans" cxnId="{63A5FA9B-FCD9-4211-94D5-CFE071693354}">
      <dgm:prSet/>
      <dgm:spPr/>
    </dgm:pt>
    <dgm:pt modelId="{15BA70A7-BDD9-4CF0-9173-80D7AF375B4F}">
      <dgm:prSet phldr="0"/>
      <dgm:spPr/>
      <dgm:t>
        <a:bodyPr/>
        <a:lstStyle/>
        <a:p>
          <a:pPr algn="l" rtl="0"/>
          <a:r>
            <a:rPr lang="en-GB" sz="2000" b="1" dirty="0">
              <a:latin typeface="Garamond"/>
              <a:ea typeface="Calibri"/>
              <a:cs typeface="Calibri"/>
            </a:rPr>
            <a:t>Insight:</a:t>
          </a:r>
          <a:r>
            <a:rPr lang="en-GB" sz="2000" dirty="0">
              <a:latin typeface="Garamond"/>
              <a:ea typeface="Calibri"/>
              <a:cs typeface="Calibri"/>
            </a:rPr>
            <a:t> </a:t>
          </a:r>
          <a:br>
            <a:rPr lang="en-GB" sz="2000" dirty="0">
              <a:latin typeface="Garamond"/>
              <a:ea typeface="Calibri"/>
              <a:cs typeface="Calibri"/>
            </a:rPr>
          </a:br>
          <a:r>
            <a:rPr lang="en-GB" sz="2000" dirty="0">
              <a:latin typeface="Garamond"/>
              <a:ea typeface="Calibri"/>
              <a:cs typeface="Calibri"/>
            </a:rPr>
            <a:t>Indicates TV is already treated as the primary advertising medium.</a:t>
          </a:r>
          <a:endParaRPr lang="en-GB" dirty="0">
            <a:latin typeface="Garamond"/>
            <a:ea typeface="Calibri"/>
            <a:cs typeface="Calibri"/>
          </a:endParaRPr>
        </a:p>
      </dgm:t>
    </dgm:pt>
    <dgm:pt modelId="{C245DBF4-921B-4253-862A-E7C41427B694}" type="parTrans" cxnId="{E7F24ED2-537E-43ED-A317-3CA849D6CC94}">
      <dgm:prSet/>
      <dgm:spPr/>
    </dgm:pt>
    <dgm:pt modelId="{1C3F4E66-112C-4D53-B94A-D9EE92C7A149}" type="sibTrans" cxnId="{E7F24ED2-537E-43ED-A317-3CA849D6CC94}">
      <dgm:prSet/>
      <dgm:spPr/>
    </dgm:pt>
    <dgm:pt modelId="{E6F2CBFD-76B2-42B7-B4CC-DC18278218A4}">
      <dgm:prSet phldr="0"/>
      <dgm:spPr/>
      <dgm:t>
        <a:bodyPr/>
        <a:lstStyle/>
        <a:p>
          <a:pPr algn="l" rtl="0"/>
          <a:r>
            <a:rPr lang="en-GB" sz="2000" b="1" dirty="0">
              <a:latin typeface="Garamond"/>
              <a:ea typeface="Calibri"/>
              <a:cs typeface="Calibri"/>
            </a:rPr>
            <a:t>Recommendation:</a:t>
          </a:r>
          <a:r>
            <a:rPr lang="en-GB" sz="2000" dirty="0">
              <a:latin typeface="Garamond"/>
              <a:ea typeface="Calibri"/>
              <a:cs typeface="Calibri"/>
            </a:rPr>
            <a:t> </a:t>
          </a:r>
          <a:br>
            <a:rPr lang="en-GB" sz="2000" dirty="0">
              <a:latin typeface="Garamond"/>
              <a:ea typeface="Calibri"/>
              <a:cs typeface="Calibri"/>
            </a:rPr>
          </a:br>
          <a:r>
            <a:rPr lang="en-GB" sz="2000" dirty="0">
              <a:latin typeface="Garamond"/>
              <a:ea typeface="Calibri"/>
              <a:cs typeface="Calibri"/>
            </a:rPr>
            <a:t>Continue allocating substantial budget to TV advertising.</a:t>
          </a:r>
          <a:endParaRPr lang="en-GB" dirty="0">
            <a:latin typeface="Garamond"/>
            <a:ea typeface="Calibri"/>
            <a:cs typeface="Calibri"/>
          </a:endParaRPr>
        </a:p>
      </dgm:t>
    </dgm:pt>
    <dgm:pt modelId="{213B1BE5-259D-4210-8723-278102ADE258}" type="parTrans" cxnId="{5F37EA16-7888-4504-94AD-73D75B2F5E1B}">
      <dgm:prSet/>
      <dgm:spPr/>
    </dgm:pt>
    <dgm:pt modelId="{471F4D3F-A267-4F48-AD6A-B3798000BA57}" type="sibTrans" cxnId="{5F37EA16-7888-4504-94AD-73D75B2F5E1B}">
      <dgm:prSet/>
      <dgm:spPr/>
    </dgm:pt>
    <dgm:pt modelId="{B49B7E7E-76DB-4A9B-9BD3-339BF43EED83}">
      <dgm:prSet phldr="0"/>
      <dgm:spPr/>
      <dgm:t>
        <a:bodyPr/>
        <a:lstStyle/>
        <a:p>
          <a:pPr algn="l" rtl="0"/>
          <a:r>
            <a:rPr lang="en-GB" sz="2000" b="1" dirty="0">
              <a:latin typeface="Garamond"/>
              <a:ea typeface="Calibri"/>
              <a:cs typeface="Calibri"/>
            </a:rPr>
            <a:t>Conclusion:</a:t>
          </a:r>
          <a:r>
            <a:rPr lang="en-GB" sz="2000" dirty="0">
              <a:latin typeface="Garamond"/>
              <a:ea typeface="Calibri"/>
              <a:cs typeface="Calibri"/>
            </a:rPr>
            <a:t> </a:t>
          </a:r>
          <a:br>
            <a:rPr lang="en-GB" sz="2000" dirty="0">
              <a:latin typeface="Garamond"/>
              <a:ea typeface="Calibri"/>
              <a:cs typeface="Calibri"/>
            </a:rPr>
          </a:br>
          <a:r>
            <a:rPr lang="en-GB" sz="2000" dirty="0">
              <a:latin typeface="Garamond"/>
              <a:ea typeface="Calibri"/>
              <a:cs typeface="Calibri"/>
            </a:rPr>
            <a:t>TV is the central pillar of the advertising strategy.</a:t>
          </a:r>
          <a:endParaRPr lang="en-GB" dirty="0">
            <a:latin typeface="Garamond"/>
            <a:ea typeface="Calibri"/>
            <a:cs typeface="Calibri"/>
          </a:endParaRPr>
        </a:p>
      </dgm:t>
    </dgm:pt>
    <dgm:pt modelId="{DDED88D1-E9BD-4B53-9154-4798347DD120}" type="parTrans" cxnId="{80D93BBC-4F96-413D-9019-BC6258E89495}">
      <dgm:prSet/>
      <dgm:spPr/>
    </dgm:pt>
    <dgm:pt modelId="{EEAC6C63-3032-4D61-A4C6-3EF7D76F4AEC}" type="sibTrans" cxnId="{80D93BBC-4F96-413D-9019-BC6258E89495}">
      <dgm:prSet/>
      <dgm:spPr/>
    </dgm:pt>
    <dgm:pt modelId="{FE0F985F-1D57-48C9-B365-14E3CDC3C1E7}">
      <dgm:prSet phldr="0"/>
      <dgm:spPr/>
      <dgm:t>
        <a:bodyPr/>
        <a:lstStyle/>
        <a:p>
          <a:pPr algn="l" rtl="0"/>
          <a:r>
            <a:rPr lang="en-GB" sz="2000" b="1" dirty="0">
              <a:latin typeface="Garamond"/>
              <a:ea typeface="Calibri"/>
              <a:cs typeface="Calibri"/>
            </a:rPr>
            <a:t>Key takeaway:</a:t>
          </a:r>
          <a:r>
            <a:rPr lang="en-GB" sz="2000" dirty="0">
              <a:latin typeface="Garamond"/>
              <a:ea typeface="Calibri"/>
              <a:cs typeface="Calibri"/>
            </a:rPr>
            <a:t> </a:t>
          </a:r>
          <a:br>
            <a:rPr lang="en-GB" sz="2000" dirty="0">
              <a:latin typeface="Garamond"/>
              <a:ea typeface="Calibri"/>
              <a:cs typeface="Calibri"/>
            </a:rPr>
          </a:br>
          <a:r>
            <a:rPr lang="en-GB" sz="2000" dirty="0">
              <a:latin typeface="Garamond"/>
              <a:ea typeface="Calibri"/>
              <a:cs typeface="Calibri"/>
            </a:rPr>
            <a:t>High average spend highlights the company’s reliance on mass-media advertising.</a:t>
          </a:r>
          <a:endParaRPr lang="en-GB" dirty="0">
            <a:latin typeface="Garamond"/>
            <a:ea typeface="Calibri"/>
            <a:cs typeface="Calibri"/>
          </a:endParaRPr>
        </a:p>
      </dgm:t>
    </dgm:pt>
    <dgm:pt modelId="{355224FF-ABE1-403D-92DC-1402FBF277A5}" type="parTrans" cxnId="{9A9DD0AB-6D81-45C4-9BE5-D2F088231947}">
      <dgm:prSet/>
      <dgm:spPr/>
    </dgm:pt>
    <dgm:pt modelId="{3522F41A-AC68-4C6D-872C-60EE6FF75C30}" type="sibTrans" cxnId="{9A9DD0AB-6D81-45C4-9BE5-D2F088231947}">
      <dgm:prSet/>
      <dgm:spPr/>
    </dgm:pt>
    <dgm:pt modelId="{410C6ACB-164A-4951-97D7-F8AAF3AB3760}" type="pres">
      <dgm:prSet presAssocID="{90A384C5-1F43-422C-ADF6-041BCE2CA489}" presName="diagram" presStyleCnt="0">
        <dgm:presLayoutVars>
          <dgm:dir/>
          <dgm:resizeHandles val="exact"/>
        </dgm:presLayoutVars>
      </dgm:prSet>
      <dgm:spPr/>
    </dgm:pt>
    <dgm:pt modelId="{EF70CD71-56C3-4870-9547-649AFA79508C}" type="pres">
      <dgm:prSet presAssocID="{0675CA3E-8C46-4EDA-B816-CCD75AFF3F46}" presName="node" presStyleLbl="node1" presStyleIdx="0" presStyleCnt="6">
        <dgm:presLayoutVars>
          <dgm:bulletEnabled val="1"/>
        </dgm:presLayoutVars>
      </dgm:prSet>
      <dgm:spPr/>
    </dgm:pt>
    <dgm:pt modelId="{2D6BB875-DBAC-4B7E-B39C-13E444F71076}" type="pres">
      <dgm:prSet presAssocID="{B347FC2E-B8CD-44AA-BD9F-A4730AD547EF}" presName="sibTrans" presStyleCnt="0"/>
      <dgm:spPr/>
    </dgm:pt>
    <dgm:pt modelId="{652A28AD-D689-4C83-A5EC-25606A97BC9A}" type="pres">
      <dgm:prSet presAssocID="{55B7DFE8-593E-41C1-A94B-398DFA7D6152}" presName="node" presStyleLbl="node1" presStyleIdx="1" presStyleCnt="6">
        <dgm:presLayoutVars>
          <dgm:bulletEnabled val="1"/>
        </dgm:presLayoutVars>
      </dgm:prSet>
      <dgm:spPr/>
    </dgm:pt>
    <dgm:pt modelId="{AFBFAB19-6E0E-4195-8BE3-67C6179BE582}" type="pres">
      <dgm:prSet presAssocID="{E1BB6F51-F9C5-459C-BF1D-1B6FE2C3E686}" presName="sibTrans" presStyleCnt="0"/>
      <dgm:spPr/>
    </dgm:pt>
    <dgm:pt modelId="{4EDC56C9-16EF-4897-AE60-7A6D6E240857}" type="pres">
      <dgm:prSet presAssocID="{15BA70A7-BDD9-4CF0-9173-80D7AF375B4F}" presName="node" presStyleLbl="node1" presStyleIdx="2" presStyleCnt="6">
        <dgm:presLayoutVars>
          <dgm:bulletEnabled val="1"/>
        </dgm:presLayoutVars>
      </dgm:prSet>
      <dgm:spPr/>
    </dgm:pt>
    <dgm:pt modelId="{234241F2-DE9E-4A22-9C5D-09869200CB41}" type="pres">
      <dgm:prSet presAssocID="{1C3F4E66-112C-4D53-B94A-D9EE92C7A149}" presName="sibTrans" presStyleCnt="0"/>
      <dgm:spPr/>
    </dgm:pt>
    <dgm:pt modelId="{63274993-B2C4-49EC-902B-F7314843ABEE}" type="pres">
      <dgm:prSet presAssocID="{E6F2CBFD-76B2-42B7-B4CC-DC18278218A4}" presName="node" presStyleLbl="node1" presStyleIdx="3" presStyleCnt="6">
        <dgm:presLayoutVars>
          <dgm:bulletEnabled val="1"/>
        </dgm:presLayoutVars>
      </dgm:prSet>
      <dgm:spPr/>
    </dgm:pt>
    <dgm:pt modelId="{7A40ACF0-25D2-4946-8DBB-56FF143844E8}" type="pres">
      <dgm:prSet presAssocID="{471F4D3F-A267-4F48-AD6A-B3798000BA57}" presName="sibTrans" presStyleCnt="0"/>
      <dgm:spPr/>
    </dgm:pt>
    <dgm:pt modelId="{1C5AE2AB-E20D-4258-91FC-9590403BA773}" type="pres">
      <dgm:prSet presAssocID="{B49B7E7E-76DB-4A9B-9BD3-339BF43EED83}" presName="node" presStyleLbl="node1" presStyleIdx="4" presStyleCnt="6">
        <dgm:presLayoutVars>
          <dgm:bulletEnabled val="1"/>
        </dgm:presLayoutVars>
      </dgm:prSet>
      <dgm:spPr/>
    </dgm:pt>
    <dgm:pt modelId="{4B2707DC-200C-4B49-9634-32EFED16947B}" type="pres">
      <dgm:prSet presAssocID="{EEAC6C63-3032-4D61-A4C6-3EF7D76F4AEC}" presName="sibTrans" presStyleCnt="0"/>
      <dgm:spPr/>
    </dgm:pt>
    <dgm:pt modelId="{AB50FD25-5AB7-4E72-8C32-E4B2B3E03E29}" type="pres">
      <dgm:prSet presAssocID="{FE0F985F-1D57-48C9-B365-14E3CDC3C1E7}" presName="node" presStyleLbl="node1" presStyleIdx="5" presStyleCnt="6">
        <dgm:presLayoutVars>
          <dgm:bulletEnabled val="1"/>
        </dgm:presLayoutVars>
      </dgm:prSet>
      <dgm:spPr/>
    </dgm:pt>
  </dgm:ptLst>
  <dgm:cxnLst>
    <dgm:cxn modelId="{60485113-828B-4B3E-9F53-C74151FE64E1}" type="presOf" srcId="{15BA70A7-BDD9-4CF0-9173-80D7AF375B4F}" destId="{4EDC56C9-16EF-4897-AE60-7A6D6E240857}" srcOrd="0" destOrd="0" presId="urn:microsoft.com/office/officeart/2005/8/layout/default"/>
    <dgm:cxn modelId="{5F37EA16-7888-4504-94AD-73D75B2F5E1B}" srcId="{90A384C5-1F43-422C-ADF6-041BCE2CA489}" destId="{E6F2CBFD-76B2-42B7-B4CC-DC18278218A4}" srcOrd="3" destOrd="0" parTransId="{213B1BE5-259D-4210-8723-278102ADE258}" sibTransId="{471F4D3F-A267-4F48-AD6A-B3798000BA57}"/>
    <dgm:cxn modelId="{1AFE9A72-C57B-4DEB-8144-8B4A03B39E3A}" type="presOf" srcId="{90A384C5-1F43-422C-ADF6-041BCE2CA489}" destId="{410C6ACB-164A-4951-97D7-F8AAF3AB3760}" srcOrd="0" destOrd="0" presId="urn:microsoft.com/office/officeart/2005/8/layout/default"/>
    <dgm:cxn modelId="{AB748782-C70F-403A-A71E-4084F43E5C96}" type="presOf" srcId="{0675CA3E-8C46-4EDA-B816-CCD75AFF3F46}" destId="{EF70CD71-56C3-4870-9547-649AFA79508C}" srcOrd="0" destOrd="0" presId="urn:microsoft.com/office/officeart/2005/8/layout/default"/>
    <dgm:cxn modelId="{63A5FA9B-FCD9-4211-94D5-CFE071693354}" srcId="{90A384C5-1F43-422C-ADF6-041BCE2CA489}" destId="{55B7DFE8-593E-41C1-A94B-398DFA7D6152}" srcOrd="1" destOrd="0" parTransId="{12512CE8-D1CD-4F9F-BA5C-90E36C6C89C9}" sibTransId="{E1BB6F51-F9C5-459C-BF1D-1B6FE2C3E686}"/>
    <dgm:cxn modelId="{9A9DD0AB-6D81-45C4-9BE5-D2F088231947}" srcId="{90A384C5-1F43-422C-ADF6-041BCE2CA489}" destId="{FE0F985F-1D57-48C9-B365-14E3CDC3C1E7}" srcOrd="5" destOrd="0" parTransId="{355224FF-ABE1-403D-92DC-1402FBF277A5}" sibTransId="{3522F41A-AC68-4C6D-872C-60EE6FF75C30}"/>
    <dgm:cxn modelId="{4472F5AC-803A-4FD9-AAFB-530E33D52DEB}" type="presOf" srcId="{E6F2CBFD-76B2-42B7-B4CC-DC18278218A4}" destId="{63274993-B2C4-49EC-902B-F7314843ABEE}" srcOrd="0" destOrd="0" presId="urn:microsoft.com/office/officeart/2005/8/layout/default"/>
    <dgm:cxn modelId="{09CBC1B0-BE5E-4335-BC00-FB21744B01AB}" type="presOf" srcId="{FE0F985F-1D57-48C9-B365-14E3CDC3C1E7}" destId="{AB50FD25-5AB7-4E72-8C32-E4B2B3E03E29}" srcOrd="0" destOrd="0" presId="urn:microsoft.com/office/officeart/2005/8/layout/default"/>
    <dgm:cxn modelId="{80D93BBC-4F96-413D-9019-BC6258E89495}" srcId="{90A384C5-1F43-422C-ADF6-041BCE2CA489}" destId="{B49B7E7E-76DB-4A9B-9BD3-339BF43EED83}" srcOrd="4" destOrd="0" parTransId="{DDED88D1-E9BD-4B53-9154-4798347DD120}" sibTransId="{EEAC6C63-3032-4D61-A4C6-3EF7D76F4AEC}"/>
    <dgm:cxn modelId="{6176E8BD-F987-4912-8317-9117DB275A7F}" srcId="{90A384C5-1F43-422C-ADF6-041BCE2CA489}" destId="{0675CA3E-8C46-4EDA-B816-CCD75AFF3F46}" srcOrd="0" destOrd="0" parTransId="{D47F439F-B733-40F1-A7DD-232F754FD437}" sibTransId="{B347FC2E-B8CD-44AA-BD9F-A4730AD547EF}"/>
    <dgm:cxn modelId="{53A161C1-D3F5-4DB0-B81B-785F441921C6}" type="presOf" srcId="{B49B7E7E-76DB-4A9B-9BD3-339BF43EED83}" destId="{1C5AE2AB-E20D-4258-91FC-9590403BA773}" srcOrd="0" destOrd="0" presId="urn:microsoft.com/office/officeart/2005/8/layout/default"/>
    <dgm:cxn modelId="{E5E55FD0-2FD6-4C11-9219-DF40C6F35DAA}" type="presOf" srcId="{55B7DFE8-593E-41C1-A94B-398DFA7D6152}" destId="{652A28AD-D689-4C83-A5EC-25606A97BC9A}" srcOrd="0" destOrd="0" presId="urn:microsoft.com/office/officeart/2005/8/layout/default"/>
    <dgm:cxn modelId="{E7F24ED2-537E-43ED-A317-3CA849D6CC94}" srcId="{90A384C5-1F43-422C-ADF6-041BCE2CA489}" destId="{15BA70A7-BDD9-4CF0-9173-80D7AF375B4F}" srcOrd="2" destOrd="0" parTransId="{C245DBF4-921B-4253-862A-E7C41427B694}" sibTransId="{1C3F4E66-112C-4D53-B94A-D9EE92C7A149}"/>
    <dgm:cxn modelId="{BA047098-C24A-4847-9C84-8BB1FDF162D1}" type="presParOf" srcId="{410C6ACB-164A-4951-97D7-F8AAF3AB3760}" destId="{EF70CD71-56C3-4870-9547-649AFA79508C}" srcOrd="0" destOrd="0" presId="urn:microsoft.com/office/officeart/2005/8/layout/default"/>
    <dgm:cxn modelId="{443CD747-9FC5-403D-A1C5-0B3F88E59B48}" type="presParOf" srcId="{410C6ACB-164A-4951-97D7-F8AAF3AB3760}" destId="{2D6BB875-DBAC-4B7E-B39C-13E444F71076}" srcOrd="1" destOrd="0" presId="urn:microsoft.com/office/officeart/2005/8/layout/default"/>
    <dgm:cxn modelId="{F3E19E9D-87C4-4495-A554-85B1A3884230}" type="presParOf" srcId="{410C6ACB-164A-4951-97D7-F8AAF3AB3760}" destId="{652A28AD-D689-4C83-A5EC-25606A97BC9A}" srcOrd="2" destOrd="0" presId="urn:microsoft.com/office/officeart/2005/8/layout/default"/>
    <dgm:cxn modelId="{D4CD9504-E609-4134-8A74-BC48933E58C6}" type="presParOf" srcId="{410C6ACB-164A-4951-97D7-F8AAF3AB3760}" destId="{AFBFAB19-6E0E-4195-8BE3-67C6179BE582}" srcOrd="3" destOrd="0" presId="urn:microsoft.com/office/officeart/2005/8/layout/default"/>
    <dgm:cxn modelId="{D057F96D-62DB-4110-AAB9-D65EF1F70588}" type="presParOf" srcId="{410C6ACB-164A-4951-97D7-F8AAF3AB3760}" destId="{4EDC56C9-16EF-4897-AE60-7A6D6E240857}" srcOrd="4" destOrd="0" presId="urn:microsoft.com/office/officeart/2005/8/layout/default"/>
    <dgm:cxn modelId="{5D4A04B5-436C-4D5D-9761-3BE84D2D9F3D}" type="presParOf" srcId="{410C6ACB-164A-4951-97D7-F8AAF3AB3760}" destId="{234241F2-DE9E-4A22-9C5D-09869200CB41}" srcOrd="5" destOrd="0" presId="urn:microsoft.com/office/officeart/2005/8/layout/default"/>
    <dgm:cxn modelId="{4DCEA677-44C3-411A-BB88-08DBD84F83E2}" type="presParOf" srcId="{410C6ACB-164A-4951-97D7-F8AAF3AB3760}" destId="{63274993-B2C4-49EC-902B-F7314843ABEE}" srcOrd="6" destOrd="0" presId="urn:microsoft.com/office/officeart/2005/8/layout/default"/>
    <dgm:cxn modelId="{8BE42A4A-6FF1-4521-88EE-1F457239E9E7}" type="presParOf" srcId="{410C6ACB-164A-4951-97D7-F8AAF3AB3760}" destId="{7A40ACF0-25D2-4946-8DBB-56FF143844E8}" srcOrd="7" destOrd="0" presId="urn:microsoft.com/office/officeart/2005/8/layout/default"/>
    <dgm:cxn modelId="{F6C2AE7C-3B32-4440-B898-6FC649A13932}" type="presParOf" srcId="{410C6ACB-164A-4951-97D7-F8AAF3AB3760}" destId="{1C5AE2AB-E20D-4258-91FC-9590403BA773}" srcOrd="8" destOrd="0" presId="urn:microsoft.com/office/officeart/2005/8/layout/default"/>
    <dgm:cxn modelId="{ACB022D9-3CC7-418A-B25C-15613692B735}" type="presParOf" srcId="{410C6ACB-164A-4951-97D7-F8AAF3AB3760}" destId="{4B2707DC-200C-4B49-9634-32EFED16947B}" srcOrd="9" destOrd="0" presId="urn:microsoft.com/office/officeart/2005/8/layout/default"/>
    <dgm:cxn modelId="{7124BA64-3978-4DF0-92D6-08894853319D}" type="presParOf" srcId="{410C6ACB-164A-4951-97D7-F8AAF3AB3760}" destId="{AB50FD25-5AB7-4E72-8C32-E4B2B3E03E29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A384C5-1F43-422C-ADF6-041BCE2CA489}" type="doc">
      <dgm:prSet loTypeId="urn:microsoft.com/office/officeart/2005/8/layout/default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5178C992-D08E-4986-9C5C-BDAE8739CC96}">
      <dgm:prSet phldr="0"/>
      <dgm:spPr/>
      <dgm:t>
        <a:bodyPr/>
        <a:lstStyle/>
        <a:p>
          <a:pPr algn="l" rtl="0"/>
          <a:r>
            <a:rPr lang="en-GB" sz="2000" b="1" dirty="0"/>
            <a:t>Result: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Correlation = 0.35 (moderate positive).</a:t>
          </a:r>
          <a:endParaRPr lang="en-GB" sz="2000" dirty="0">
            <a:latin typeface="Garamond" panose="02020404030301010803"/>
          </a:endParaRPr>
        </a:p>
      </dgm:t>
    </dgm:pt>
    <dgm:pt modelId="{C5F18958-EE47-4ADF-8D49-5BA19256C824}" type="parTrans" cxnId="{BDE41414-B121-4B1C-ABE1-790D5C886809}">
      <dgm:prSet/>
      <dgm:spPr/>
    </dgm:pt>
    <dgm:pt modelId="{D87DE9F1-CFF0-4806-B01F-367B8DAADDE7}" type="sibTrans" cxnId="{BDE41414-B121-4B1C-ABE1-790D5C886809}">
      <dgm:prSet/>
      <dgm:spPr/>
    </dgm:pt>
    <dgm:pt modelId="{959B05B8-4D15-40AA-8A78-9CCFD1C63382}">
      <dgm:prSet phldr="0"/>
      <dgm:spPr/>
      <dgm:t>
        <a:bodyPr/>
        <a:lstStyle/>
        <a:p>
          <a:pPr algn="l" rtl="0"/>
          <a:r>
            <a:rPr lang="en-GB" sz="2000" b="1" dirty="0"/>
            <a:t>Observation:</a:t>
          </a:r>
          <a:r>
            <a:rPr lang="en-GB" sz="2000" dirty="0"/>
            <a:t> </a:t>
          </a:r>
          <a:br>
            <a:rPr lang="en-GB" sz="20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000" dirty="0"/>
            <a:t>Radio spend moderately boosts sales.</a:t>
          </a:r>
          <a:endParaRPr lang="en-GB" dirty="0"/>
        </a:p>
      </dgm:t>
    </dgm:pt>
    <dgm:pt modelId="{8B2E1774-8E19-462A-ADBD-49EB72AFD72A}" type="parTrans" cxnId="{A5744658-B819-4881-B058-F4938FC3C032}">
      <dgm:prSet/>
      <dgm:spPr/>
    </dgm:pt>
    <dgm:pt modelId="{F83A67C6-7C3C-470C-9D32-D22DE0498855}" type="sibTrans" cxnId="{A5744658-B819-4881-B058-F4938FC3C032}">
      <dgm:prSet/>
      <dgm:spPr/>
    </dgm:pt>
    <dgm:pt modelId="{B0955BA5-2020-4772-9895-2D18C3940978}">
      <dgm:prSet phldr="0"/>
      <dgm:spPr/>
      <dgm:t>
        <a:bodyPr/>
        <a:lstStyle/>
        <a:p>
          <a:pPr algn="l" rtl="0"/>
          <a:r>
            <a:rPr lang="en-GB" sz="2000" b="1" dirty="0"/>
            <a:t>Insight:</a:t>
          </a:r>
          <a:r>
            <a:rPr lang="en-GB" sz="2000" dirty="0"/>
            <a:t> </a:t>
          </a:r>
          <a:br>
            <a:rPr lang="en-GB" sz="20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000" dirty="0"/>
            <a:t>Radio helps but impact is smaller than TV.</a:t>
          </a:r>
          <a:endParaRPr lang="en-GB" dirty="0"/>
        </a:p>
      </dgm:t>
    </dgm:pt>
    <dgm:pt modelId="{8EF060D0-0847-42FF-8AE6-3915DD707E3E}" type="parTrans" cxnId="{E2269A9E-CCC2-4D1C-B53B-66F208173D9F}">
      <dgm:prSet/>
      <dgm:spPr/>
    </dgm:pt>
    <dgm:pt modelId="{A26C0C56-F0C3-4745-855A-696657BA90D7}" type="sibTrans" cxnId="{E2269A9E-CCC2-4D1C-B53B-66F208173D9F}">
      <dgm:prSet/>
      <dgm:spPr/>
    </dgm:pt>
    <dgm:pt modelId="{C97DD2A9-3C7C-43BD-9CB9-F3F6760BBFEF}">
      <dgm:prSet phldr="0"/>
      <dgm:spPr/>
      <dgm:t>
        <a:bodyPr/>
        <a:lstStyle/>
        <a:p>
          <a:pPr algn="l" rtl="0"/>
          <a:r>
            <a:rPr lang="en-GB" sz="2000" b="1" dirty="0"/>
            <a:t>Recommendation: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Maintain radio as a supporting channel.</a:t>
          </a:r>
          <a:endParaRPr lang="en-GB" dirty="0"/>
        </a:p>
      </dgm:t>
    </dgm:pt>
    <dgm:pt modelId="{B98A798A-D469-449B-B634-1386725F621A}" type="parTrans" cxnId="{A65BE658-C347-439E-A82C-79919F1D887F}">
      <dgm:prSet/>
      <dgm:spPr/>
    </dgm:pt>
    <dgm:pt modelId="{138D5FC2-E9E9-42C4-B44E-CC82F3A9430B}" type="sibTrans" cxnId="{A65BE658-C347-439E-A82C-79919F1D887F}">
      <dgm:prSet/>
      <dgm:spPr/>
    </dgm:pt>
    <dgm:pt modelId="{786933B6-FE80-4AF1-B460-53F5EA2D6879}">
      <dgm:prSet phldr="0"/>
      <dgm:spPr/>
      <dgm:t>
        <a:bodyPr/>
        <a:lstStyle/>
        <a:p>
          <a:pPr algn="l" rtl="0"/>
          <a:r>
            <a:rPr lang="en-GB" sz="2000" b="1" dirty="0"/>
            <a:t>Conclusion: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Radio is useful for targeted audiences but not a main driver.</a:t>
          </a:r>
          <a:endParaRPr lang="en-GB" dirty="0"/>
        </a:p>
      </dgm:t>
    </dgm:pt>
    <dgm:pt modelId="{799249AE-77DC-496C-A57A-A9918C583701}" type="parTrans" cxnId="{55BCE887-91CD-415A-8D17-48DF63D9BC60}">
      <dgm:prSet/>
      <dgm:spPr/>
    </dgm:pt>
    <dgm:pt modelId="{79E1F16D-A54C-418B-9332-86DA874D829D}" type="sibTrans" cxnId="{55BCE887-91CD-415A-8D17-48DF63D9BC60}">
      <dgm:prSet/>
      <dgm:spPr/>
    </dgm:pt>
    <dgm:pt modelId="{8667E944-51E0-4E58-9657-B8AF84A8EBAF}">
      <dgm:prSet phldr="0"/>
      <dgm:spPr/>
      <dgm:t>
        <a:bodyPr/>
        <a:lstStyle/>
        <a:p>
          <a:pPr algn="l" rtl="0"/>
          <a:r>
            <a:rPr lang="en-GB" sz="2000" b="1" dirty="0"/>
            <a:t>Key takeaway: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Radio works best when combined with TV campaigns for synergy</a:t>
          </a:r>
          <a:r>
            <a:rPr lang="en-GB" sz="2000" dirty="0">
              <a:latin typeface="Garamond" panose="02020404030301010803"/>
            </a:rPr>
            <a:t>.</a:t>
          </a:r>
          <a:endParaRPr lang="en-GB" sz="1800" dirty="0"/>
        </a:p>
      </dgm:t>
    </dgm:pt>
    <dgm:pt modelId="{DA185FAB-F6EE-48BA-9F91-90E980E611D6}" type="parTrans" cxnId="{6D71DF95-EC2D-4483-BB49-6CE9BCD065E9}">
      <dgm:prSet/>
      <dgm:spPr/>
    </dgm:pt>
    <dgm:pt modelId="{04FDFCF4-195F-48E2-BC41-7C9FA7526128}" type="sibTrans" cxnId="{6D71DF95-EC2D-4483-BB49-6CE9BCD065E9}">
      <dgm:prSet/>
      <dgm:spPr/>
    </dgm:pt>
    <dgm:pt modelId="{410C6ACB-164A-4951-97D7-F8AAF3AB3760}" type="pres">
      <dgm:prSet presAssocID="{90A384C5-1F43-422C-ADF6-041BCE2CA489}" presName="diagram" presStyleCnt="0">
        <dgm:presLayoutVars>
          <dgm:dir/>
          <dgm:resizeHandles val="exact"/>
        </dgm:presLayoutVars>
      </dgm:prSet>
      <dgm:spPr/>
    </dgm:pt>
    <dgm:pt modelId="{3CB94F36-18EE-4674-A3AC-3D62A8719449}" type="pres">
      <dgm:prSet presAssocID="{5178C992-D08E-4986-9C5C-BDAE8739CC96}" presName="node" presStyleLbl="node1" presStyleIdx="0" presStyleCnt="6">
        <dgm:presLayoutVars>
          <dgm:bulletEnabled val="1"/>
        </dgm:presLayoutVars>
      </dgm:prSet>
      <dgm:spPr/>
    </dgm:pt>
    <dgm:pt modelId="{69E07EA1-738E-4B0F-983F-46E3BEEB8276}" type="pres">
      <dgm:prSet presAssocID="{D87DE9F1-CFF0-4806-B01F-367B8DAADDE7}" presName="sibTrans" presStyleCnt="0"/>
      <dgm:spPr/>
    </dgm:pt>
    <dgm:pt modelId="{D1EA19FF-16C0-41C6-93C6-597F17A92719}" type="pres">
      <dgm:prSet presAssocID="{959B05B8-4D15-40AA-8A78-9CCFD1C63382}" presName="node" presStyleLbl="node1" presStyleIdx="1" presStyleCnt="6">
        <dgm:presLayoutVars>
          <dgm:bulletEnabled val="1"/>
        </dgm:presLayoutVars>
      </dgm:prSet>
      <dgm:spPr/>
    </dgm:pt>
    <dgm:pt modelId="{7B8DEE27-120D-40AB-B2BC-31ACFA079E13}" type="pres">
      <dgm:prSet presAssocID="{F83A67C6-7C3C-470C-9D32-D22DE0498855}" presName="sibTrans" presStyleCnt="0"/>
      <dgm:spPr/>
    </dgm:pt>
    <dgm:pt modelId="{E8E2DAD7-9DB0-4861-8EC7-69307AC145B7}" type="pres">
      <dgm:prSet presAssocID="{B0955BA5-2020-4772-9895-2D18C3940978}" presName="node" presStyleLbl="node1" presStyleIdx="2" presStyleCnt="6">
        <dgm:presLayoutVars>
          <dgm:bulletEnabled val="1"/>
        </dgm:presLayoutVars>
      </dgm:prSet>
      <dgm:spPr/>
    </dgm:pt>
    <dgm:pt modelId="{3127AC2F-86D6-4944-BAF5-34A1F2443C75}" type="pres">
      <dgm:prSet presAssocID="{A26C0C56-F0C3-4745-855A-696657BA90D7}" presName="sibTrans" presStyleCnt="0"/>
      <dgm:spPr/>
    </dgm:pt>
    <dgm:pt modelId="{291C06F3-617E-480F-AF65-11473B6D0CC4}" type="pres">
      <dgm:prSet presAssocID="{C97DD2A9-3C7C-43BD-9CB9-F3F6760BBFEF}" presName="node" presStyleLbl="node1" presStyleIdx="3" presStyleCnt="6">
        <dgm:presLayoutVars>
          <dgm:bulletEnabled val="1"/>
        </dgm:presLayoutVars>
      </dgm:prSet>
      <dgm:spPr/>
    </dgm:pt>
    <dgm:pt modelId="{A4940CBB-10D6-4E97-A0CC-52FD32FB79A8}" type="pres">
      <dgm:prSet presAssocID="{138D5FC2-E9E9-42C4-B44E-CC82F3A9430B}" presName="sibTrans" presStyleCnt="0"/>
      <dgm:spPr/>
    </dgm:pt>
    <dgm:pt modelId="{EC92176A-F82A-46E8-A683-496F0838BC11}" type="pres">
      <dgm:prSet presAssocID="{786933B6-FE80-4AF1-B460-53F5EA2D6879}" presName="node" presStyleLbl="node1" presStyleIdx="4" presStyleCnt="6">
        <dgm:presLayoutVars>
          <dgm:bulletEnabled val="1"/>
        </dgm:presLayoutVars>
      </dgm:prSet>
      <dgm:spPr/>
    </dgm:pt>
    <dgm:pt modelId="{85C73826-157E-4FA6-8F1E-AAB2FB1831B6}" type="pres">
      <dgm:prSet presAssocID="{79E1F16D-A54C-418B-9332-86DA874D829D}" presName="sibTrans" presStyleCnt="0"/>
      <dgm:spPr/>
    </dgm:pt>
    <dgm:pt modelId="{F495010C-818D-4611-8E87-2F38E7A44EA1}" type="pres">
      <dgm:prSet presAssocID="{8667E944-51E0-4E58-9657-B8AF84A8EBAF}" presName="node" presStyleLbl="node1" presStyleIdx="5" presStyleCnt="6">
        <dgm:presLayoutVars>
          <dgm:bulletEnabled val="1"/>
        </dgm:presLayoutVars>
      </dgm:prSet>
      <dgm:spPr/>
    </dgm:pt>
  </dgm:ptLst>
  <dgm:cxnLst>
    <dgm:cxn modelId="{BDE41414-B121-4B1C-ABE1-790D5C886809}" srcId="{90A384C5-1F43-422C-ADF6-041BCE2CA489}" destId="{5178C992-D08E-4986-9C5C-BDAE8739CC96}" srcOrd="0" destOrd="0" parTransId="{C5F18958-EE47-4ADF-8D49-5BA19256C824}" sibTransId="{D87DE9F1-CFF0-4806-B01F-367B8DAADDE7}"/>
    <dgm:cxn modelId="{628DFE39-C679-4EF6-A6C1-3313A9CD0037}" type="presOf" srcId="{B0955BA5-2020-4772-9895-2D18C3940978}" destId="{E8E2DAD7-9DB0-4861-8EC7-69307AC145B7}" srcOrd="0" destOrd="0" presId="urn:microsoft.com/office/officeart/2005/8/layout/default"/>
    <dgm:cxn modelId="{717AE55B-C41F-469B-BD81-9D4993000CFD}" type="presOf" srcId="{786933B6-FE80-4AF1-B460-53F5EA2D6879}" destId="{EC92176A-F82A-46E8-A683-496F0838BC11}" srcOrd="0" destOrd="0" presId="urn:microsoft.com/office/officeart/2005/8/layout/default"/>
    <dgm:cxn modelId="{BDD9205D-B965-4278-8145-A34E3B3CCF12}" type="presOf" srcId="{959B05B8-4D15-40AA-8A78-9CCFD1C63382}" destId="{D1EA19FF-16C0-41C6-93C6-597F17A92719}" srcOrd="0" destOrd="0" presId="urn:microsoft.com/office/officeart/2005/8/layout/default"/>
    <dgm:cxn modelId="{ACD75D46-7686-449A-A754-947AD594A24A}" type="presOf" srcId="{C97DD2A9-3C7C-43BD-9CB9-F3F6760BBFEF}" destId="{291C06F3-617E-480F-AF65-11473B6D0CC4}" srcOrd="0" destOrd="0" presId="urn:microsoft.com/office/officeart/2005/8/layout/default"/>
    <dgm:cxn modelId="{1AFE9A72-C57B-4DEB-8144-8B4A03B39E3A}" type="presOf" srcId="{90A384C5-1F43-422C-ADF6-041BCE2CA489}" destId="{410C6ACB-164A-4951-97D7-F8AAF3AB3760}" srcOrd="0" destOrd="0" presId="urn:microsoft.com/office/officeart/2005/8/layout/default"/>
    <dgm:cxn modelId="{A5744658-B819-4881-B058-F4938FC3C032}" srcId="{90A384C5-1F43-422C-ADF6-041BCE2CA489}" destId="{959B05B8-4D15-40AA-8A78-9CCFD1C63382}" srcOrd="1" destOrd="0" parTransId="{8B2E1774-8E19-462A-ADBD-49EB72AFD72A}" sibTransId="{F83A67C6-7C3C-470C-9D32-D22DE0498855}"/>
    <dgm:cxn modelId="{A65BE658-C347-439E-A82C-79919F1D887F}" srcId="{90A384C5-1F43-422C-ADF6-041BCE2CA489}" destId="{C97DD2A9-3C7C-43BD-9CB9-F3F6760BBFEF}" srcOrd="3" destOrd="0" parTransId="{B98A798A-D469-449B-B634-1386725F621A}" sibTransId="{138D5FC2-E9E9-42C4-B44E-CC82F3A9430B}"/>
    <dgm:cxn modelId="{55BCE887-91CD-415A-8D17-48DF63D9BC60}" srcId="{90A384C5-1F43-422C-ADF6-041BCE2CA489}" destId="{786933B6-FE80-4AF1-B460-53F5EA2D6879}" srcOrd="4" destOrd="0" parTransId="{799249AE-77DC-496C-A57A-A9918C583701}" sibTransId="{79E1F16D-A54C-418B-9332-86DA874D829D}"/>
    <dgm:cxn modelId="{6D71DF95-EC2D-4483-BB49-6CE9BCD065E9}" srcId="{90A384C5-1F43-422C-ADF6-041BCE2CA489}" destId="{8667E944-51E0-4E58-9657-B8AF84A8EBAF}" srcOrd="5" destOrd="0" parTransId="{DA185FAB-F6EE-48BA-9F91-90E980E611D6}" sibTransId="{04FDFCF4-195F-48E2-BC41-7C9FA7526128}"/>
    <dgm:cxn modelId="{E55F7B9B-42A8-4549-B1E9-6FBA08103DA2}" type="presOf" srcId="{8667E944-51E0-4E58-9657-B8AF84A8EBAF}" destId="{F495010C-818D-4611-8E87-2F38E7A44EA1}" srcOrd="0" destOrd="0" presId="urn:microsoft.com/office/officeart/2005/8/layout/default"/>
    <dgm:cxn modelId="{E2269A9E-CCC2-4D1C-B53B-66F208173D9F}" srcId="{90A384C5-1F43-422C-ADF6-041BCE2CA489}" destId="{B0955BA5-2020-4772-9895-2D18C3940978}" srcOrd="2" destOrd="0" parTransId="{8EF060D0-0847-42FF-8AE6-3915DD707E3E}" sibTransId="{A26C0C56-F0C3-4745-855A-696657BA90D7}"/>
    <dgm:cxn modelId="{9EDEB3E1-918B-419E-ABCF-A245B14E7D06}" type="presOf" srcId="{5178C992-D08E-4986-9C5C-BDAE8739CC96}" destId="{3CB94F36-18EE-4674-A3AC-3D62A8719449}" srcOrd="0" destOrd="0" presId="urn:microsoft.com/office/officeart/2005/8/layout/default"/>
    <dgm:cxn modelId="{FBA8DDA4-8324-4CA7-8689-5CCD620082F6}" type="presParOf" srcId="{410C6ACB-164A-4951-97D7-F8AAF3AB3760}" destId="{3CB94F36-18EE-4674-A3AC-3D62A8719449}" srcOrd="0" destOrd="0" presId="urn:microsoft.com/office/officeart/2005/8/layout/default"/>
    <dgm:cxn modelId="{F3D4F062-9E3F-4475-B5EE-91CB7AF1892D}" type="presParOf" srcId="{410C6ACB-164A-4951-97D7-F8AAF3AB3760}" destId="{69E07EA1-738E-4B0F-983F-46E3BEEB8276}" srcOrd="1" destOrd="0" presId="urn:microsoft.com/office/officeart/2005/8/layout/default"/>
    <dgm:cxn modelId="{A41C591C-80D9-4FC1-AB2D-F04666EF7C1D}" type="presParOf" srcId="{410C6ACB-164A-4951-97D7-F8AAF3AB3760}" destId="{D1EA19FF-16C0-41C6-93C6-597F17A92719}" srcOrd="2" destOrd="0" presId="urn:microsoft.com/office/officeart/2005/8/layout/default"/>
    <dgm:cxn modelId="{3780750F-0C3D-4BD3-9E4C-1F8E1B10A144}" type="presParOf" srcId="{410C6ACB-164A-4951-97D7-F8AAF3AB3760}" destId="{7B8DEE27-120D-40AB-B2BC-31ACFA079E13}" srcOrd="3" destOrd="0" presId="urn:microsoft.com/office/officeart/2005/8/layout/default"/>
    <dgm:cxn modelId="{8732D58E-BE9A-4087-B9C4-CC29E124E7F2}" type="presParOf" srcId="{410C6ACB-164A-4951-97D7-F8AAF3AB3760}" destId="{E8E2DAD7-9DB0-4861-8EC7-69307AC145B7}" srcOrd="4" destOrd="0" presId="urn:microsoft.com/office/officeart/2005/8/layout/default"/>
    <dgm:cxn modelId="{80314091-1F9E-4F2C-B105-0AFDEFA1E6A8}" type="presParOf" srcId="{410C6ACB-164A-4951-97D7-F8AAF3AB3760}" destId="{3127AC2F-86D6-4944-BAF5-34A1F2443C75}" srcOrd="5" destOrd="0" presId="urn:microsoft.com/office/officeart/2005/8/layout/default"/>
    <dgm:cxn modelId="{11589CB0-0818-4BA1-842A-E6E6AFF6ED52}" type="presParOf" srcId="{410C6ACB-164A-4951-97D7-F8AAF3AB3760}" destId="{291C06F3-617E-480F-AF65-11473B6D0CC4}" srcOrd="6" destOrd="0" presId="urn:microsoft.com/office/officeart/2005/8/layout/default"/>
    <dgm:cxn modelId="{EBB12763-27F8-4B98-AD13-E4E07106D888}" type="presParOf" srcId="{410C6ACB-164A-4951-97D7-F8AAF3AB3760}" destId="{A4940CBB-10D6-4E97-A0CC-52FD32FB79A8}" srcOrd="7" destOrd="0" presId="urn:microsoft.com/office/officeart/2005/8/layout/default"/>
    <dgm:cxn modelId="{38238F78-3CFE-4C40-A6EE-CD3D7B768FF1}" type="presParOf" srcId="{410C6ACB-164A-4951-97D7-F8AAF3AB3760}" destId="{EC92176A-F82A-46E8-A683-496F0838BC11}" srcOrd="8" destOrd="0" presId="urn:microsoft.com/office/officeart/2005/8/layout/default"/>
    <dgm:cxn modelId="{7C6BED87-1466-4E47-96E5-F5C4EE979B34}" type="presParOf" srcId="{410C6ACB-164A-4951-97D7-F8AAF3AB3760}" destId="{85C73826-157E-4FA6-8F1E-AAB2FB1831B6}" srcOrd="9" destOrd="0" presId="urn:microsoft.com/office/officeart/2005/8/layout/default"/>
    <dgm:cxn modelId="{0BCD3B60-0B0F-48ED-B533-B993407579B9}" type="presParOf" srcId="{410C6ACB-164A-4951-97D7-F8AAF3AB3760}" destId="{F495010C-818D-4611-8E87-2F38E7A44EA1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A384C5-1F43-422C-ADF6-041BCE2CA489}" type="doc">
      <dgm:prSet loTypeId="urn:microsoft.com/office/officeart/2005/8/layout/default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B30CCC91-5CE3-4B96-A4F5-06DB76A87638}">
      <dgm:prSet phldr="0"/>
      <dgm:spPr/>
      <dgm:t>
        <a:bodyPr/>
        <a:lstStyle/>
        <a:p>
          <a:pPr algn="l" rtl="0"/>
          <a:r>
            <a:rPr lang="en-GB" sz="2000" b="1" dirty="0"/>
            <a:t>Result:</a:t>
          </a:r>
          <a:r>
            <a:rPr lang="en-GB" sz="2000" b="0" dirty="0"/>
            <a:t> TV: </a:t>
          </a:r>
          <a:br>
            <a:rPr lang="en-GB" sz="2000" b="0" dirty="0">
              <a:latin typeface="Garamond" panose="02020404030301010803"/>
            </a:rPr>
          </a:br>
          <a:r>
            <a:rPr lang="en-GB" sz="2000" b="0" dirty="0"/>
            <a:t>4.66, Radio: 1.58, Newspaper: 0.007.</a:t>
          </a:r>
          <a:endParaRPr lang="en-GB" sz="2000" b="0" dirty="0">
            <a:latin typeface="Garamond" panose="02020404030301010803"/>
          </a:endParaRPr>
        </a:p>
      </dgm:t>
    </dgm:pt>
    <dgm:pt modelId="{FEC691E3-0765-48EF-BE10-E0D5F6073447}" type="parTrans" cxnId="{FB203C38-24D8-4BB1-B7EE-A9219F6B30D5}">
      <dgm:prSet/>
      <dgm:spPr/>
    </dgm:pt>
    <dgm:pt modelId="{34554E31-3103-4057-8362-E6D137A4F4E7}" type="sibTrans" cxnId="{FB203C38-24D8-4BB1-B7EE-A9219F6B30D5}">
      <dgm:prSet/>
      <dgm:spPr/>
    </dgm:pt>
    <dgm:pt modelId="{BEE30A48-E250-4F46-AE9A-4B6A4E3C60AA}">
      <dgm:prSet phldr="0"/>
      <dgm:spPr/>
      <dgm:t>
        <a:bodyPr/>
        <a:lstStyle/>
        <a:p>
          <a:pPr algn="l" rtl="0"/>
          <a:r>
            <a:rPr lang="en-GB" sz="2000" b="1" dirty="0"/>
            <a:t>Observation:</a:t>
          </a:r>
          <a:r>
            <a:rPr lang="en-GB" sz="2000" b="0" dirty="0"/>
            <a:t> </a:t>
          </a:r>
          <a:br>
            <a:rPr lang="en-GB" sz="2000" b="0" dirty="0">
              <a:latin typeface="Garamond" panose="02020404030301010803"/>
            </a:rPr>
          </a:br>
          <a:r>
            <a:rPr lang="en-GB" sz="2000" b="0" dirty="0"/>
            <a:t>TV has the strongest impact; Newspaper is negligible.</a:t>
          </a:r>
          <a:endParaRPr lang="en-GB" dirty="0"/>
        </a:p>
      </dgm:t>
    </dgm:pt>
    <dgm:pt modelId="{325F4409-CB8D-46F3-9836-278022AFCD48}" type="parTrans" cxnId="{422CCB0D-F3E9-4CD8-A850-918CF4ABAF93}">
      <dgm:prSet/>
      <dgm:spPr/>
    </dgm:pt>
    <dgm:pt modelId="{AEDA945C-CA44-456B-9165-497BFD1B7948}" type="sibTrans" cxnId="{422CCB0D-F3E9-4CD8-A850-918CF4ABAF93}">
      <dgm:prSet/>
      <dgm:spPr/>
    </dgm:pt>
    <dgm:pt modelId="{3D2594F4-2B2E-477A-B525-261259344680}">
      <dgm:prSet phldr="0"/>
      <dgm:spPr/>
      <dgm:t>
        <a:bodyPr/>
        <a:lstStyle/>
        <a:p>
          <a:pPr algn="l" rtl="0"/>
          <a:r>
            <a:rPr lang="en-GB" sz="2000" b="1" dirty="0"/>
            <a:t>Insight:</a:t>
          </a:r>
          <a:r>
            <a:rPr lang="en-GB" sz="2000" b="0" dirty="0"/>
            <a:t> </a:t>
          </a:r>
          <a:br>
            <a:rPr lang="en-GB" sz="2000" b="0" dirty="0">
              <a:latin typeface="Garamond" panose="02020404030301010803"/>
            </a:rPr>
          </a:br>
          <a:r>
            <a:rPr lang="en-GB" sz="2000" b="0" dirty="0"/>
            <a:t>TV drives most sales, Radio supports, Newspaper is ineffective.</a:t>
          </a:r>
          <a:endParaRPr lang="en-GB" dirty="0"/>
        </a:p>
      </dgm:t>
    </dgm:pt>
    <dgm:pt modelId="{0ED17A7A-B3C0-4F52-9505-6478CE235C24}" type="parTrans" cxnId="{A24D9E19-9567-4D4C-B1EF-D40D11312930}">
      <dgm:prSet/>
      <dgm:spPr/>
    </dgm:pt>
    <dgm:pt modelId="{5F02C5F4-6278-433F-811D-2E7B146F8C2D}" type="sibTrans" cxnId="{A24D9E19-9567-4D4C-B1EF-D40D11312930}">
      <dgm:prSet/>
      <dgm:spPr/>
    </dgm:pt>
    <dgm:pt modelId="{0812C30A-CA3F-4F84-A1A5-E4EDE508A263}">
      <dgm:prSet phldr="0"/>
      <dgm:spPr/>
      <dgm:t>
        <a:bodyPr/>
        <a:lstStyle/>
        <a:p>
          <a:pPr algn="l" rtl="0"/>
          <a:r>
            <a:rPr lang="en-GB" sz="2000" b="1" dirty="0"/>
            <a:t>Recommendation:</a:t>
          </a:r>
          <a:r>
            <a:rPr lang="en-GB" sz="2000" b="0" dirty="0"/>
            <a:t> </a:t>
          </a:r>
          <a:br>
            <a:rPr lang="en-GB" sz="2000" b="0" dirty="0">
              <a:latin typeface="Garamond" panose="02020404030301010803"/>
            </a:rPr>
          </a:br>
          <a:r>
            <a:rPr lang="en-GB" sz="2000" b="0" dirty="0"/>
            <a:t>Increase TV spend, reduce Newspaper, keep Radio as support.</a:t>
          </a:r>
          <a:endParaRPr lang="en-GB" dirty="0"/>
        </a:p>
      </dgm:t>
    </dgm:pt>
    <dgm:pt modelId="{4DE677C2-0BDE-45F8-AC07-9A0ACDCFE1C8}" type="parTrans" cxnId="{EE4238AF-1235-4640-B1E0-6980A92067F7}">
      <dgm:prSet/>
      <dgm:spPr/>
    </dgm:pt>
    <dgm:pt modelId="{C02EB6AD-C175-488C-81FE-2D308194DA05}" type="sibTrans" cxnId="{EE4238AF-1235-4640-B1E0-6980A92067F7}">
      <dgm:prSet/>
      <dgm:spPr/>
    </dgm:pt>
    <dgm:pt modelId="{CAF98990-D797-4CA3-B91B-20AE583ED759}">
      <dgm:prSet phldr="0"/>
      <dgm:spPr/>
      <dgm:t>
        <a:bodyPr/>
        <a:lstStyle/>
        <a:p>
          <a:pPr algn="l" rtl="0"/>
          <a:r>
            <a:rPr lang="en-GB" sz="2000" b="1" dirty="0"/>
            <a:t>Conclusion:</a:t>
          </a:r>
          <a:r>
            <a:rPr lang="en-GB" sz="2000" b="0" dirty="0"/>
            <a:t> </a:t>
          </a:r>
          <a:br>
            <a:rPr lang="en-GB" sz="2000" b="0" dirty="0">
              <a:latin typeface="Garamond" panose="02020404030301010803"/>
            </a:rPr>
          </a:br>
          <a:r>
            <a:rPr lang="en-GB" sz="2000" b="0" dirty="0"/>
            <a:t>TV should remain the priority for maximum sales impact.</a:t>
          </a:r>
          <a:endParaRPr lang="en-GB" dirty="0"/>
        </a:p>
      </dgm:t>
    </dgm:pt>
    <dgm:pt modelId="{AB31C37C-B5B5-4901-947E-AE22EAB6D048}" type="parTrans" cxnId="{1601FBD9-1FDC-4DA3-A2E5-C4D3D8EA15D8}">
      <dgm:prSet/>
      <dgm:spPr/>
    </dgm:pt>
    <dgm:pt modelId="{A3AE7A85-5E14-4532-8FEB-C6334204E88D}" type="sibTrans" cxnId="{1601FBD9-1FDC-4DA3-A2E5-C4D3D8EA15D8}">
      <dgm:prSet/>
      <dgm:spPr/>
    </dgm:pt>
    <dgm:pt modelId="{6B191835-CD9C-4261-899B-ABCBCF35F53D}">
      <dgm:prSet phldr="0"/>
      <dgm:spPr/>
      <dgm:t>
        <a:bodyPr/>
        <a:lstStyle/>
        <a:p>
          <a:pPr algn="l" rtl="0"/>
          <a:r>
            <a:rPr lang="en-GB" sz="2000" b="1" dirty="0"/>
            <a:t>Key takeaway:</a:t>
          </a:r>
          <a:r>
            <a:rPr lang="en-GB" sz="2000" b="0" dirty="0"/>
            <a:t> </a:t>
          </a:r>
          <a:br>
            <a:rPr lang="en-GB" sz="2000" b="0" dirty="0">
              <a:latin typeface="Garamond" panose="02020404030301010803"/>
            </a:rPr>
          </a:br>
          <a:r>
            <a:rPr lang="en-GB" sz="2000" b="0" dirty="0"/>
            <a:t>Newspaper spending offers very low return on investment compared to other channels.</a:t>
          </a:r>
          <a:endParaRPr lang="en-GB" dirty="0"/>
        </a:p>
      </dgm:t>
    </dgm:pt>
    <dgm:pt modelId="{4171E244-F45B-4DEC-BD65-495A899993FA}" type="parTrans" cxnId="{26B56A42-7147-48E3-B759-EFCAE8646F18}">
      <dgm:prSet/>
      <dgm:spPr/>
    </dgm:pt>
    <dgm:pt modelId="{114FC9F7-9511-428B-BB0D-8A95F61D02EA}" type="sibTrans" cxnId="{26B56A42-7147-48E3-B759-EFCAE8646F18}">
      <dgm:prSet/>
      <dgm:spPr/>
    </dgm:pt>
    <dgm:pt modelId="{410C6ACB-164A-4951-97D7-F8AAF3AB3760}" type="pres">
      <dgm:prSet presAssocID="{90A384C5-1F43-422C-ADF6-041BCE2CA489}" presName="diagram" presStyleCnt="0">
        <dgm:presLayoutVars>
          <dgm:dir/>
          <dgm:resizeHandles val="exact"/>
        </dgm:presLayoutVars>
      </dgm:prSet>
      <dgm:spPr/>
    </dgm:pt>
    <dgm:pt modelId="{7B8E2CBD-27C0-4B69-855E-C9D2F589FE2E}" type="pres">
      <dgm:prSet presAssocID="{B30CCC91-5CE3-4B96-A4F5-06DB76A87638}" presName="node" presStyleLbl="node1" presStyleIdx="0" presStyleCnt="6">
        <dgm:presLayoutVars>
          <dgm:bulletEnabled val="1"/>
        </dgm:presLayoutVars>
      </dgm:prSet>
      <dgm:spPr/>
    </dgm:pt>
    <dgm:pt modelId="{41DD80A6-E6E8-4D3D-ABBD-4E269945B20A}" type="pres">
      <dgm:prSet presAssocID="{34554E31-3103-4057-8362-E6D137A4F4E7}" presName="sibTrans" presStyleCnt="0"/>
      <dgm:spPr/>
    </dgm:pt>
    <dgm:pt modelId="{5425505D-D56B-4377-9A5E-F6EAE6E80E60}" type="pres">
      <dgm:prSet presAssocID="{BEE30A48-E250-4F46-AE9A-4B6A4E3C60AA}" presName="node" presStyleLbl="node1" presStyleIdx="1" presStyleCnt="6">
        <dgm:presLayoutVars>
          <dgm:bulletEnabled val="1"/>
        </dgm:presLayoutVars>
      </dgm:prSet>
      <dgm:spPr/>
    </dgm:pt>
    <dgm:pt modelId="{13304A4D-2596-4475-8E63-F5C4615EF7CC}" type="pres">
      <dgm:prSet presAssocID="{AEDA945C-CA44-456B-9165-497BFD1B7948}" presName="sibTrans" presStyleCnt="0"/>
      <dgm:spPr/>
    </dgm:pt>
    <dgm:pt modelId="{ED0A119E-E1DA-437D-B9AA-E48FCCAF1B5C}" type="pres">
      <dgm:prSet presAssocID="{3D2594F4-2B2E-477A-B525-261259344680}" presName="node" presStyleLbl="node1" presStyleIdx="2" presStyleCnt="6">
        <dgm:presLayoutVars>
          <dgm:bulletEnabled val="1"/>
        </dgm:presLayoutVars>
      </dgm:prSet>
      <dgm:spPr/>
    </dgm:pt>
    <dgm:pt modelId="{78B76A92-A675-4D4D-8859-13D3E8538A6A}" type="pres">
      <dgm:prSet presAssocID="{5F02C5F4-6278-433F-811D-2E7B146F8C2D}" presName="sibTrans" presStyleCnt="0"/>
      <dgm:spPr/>
    </dgm:pt>
    <dgm:pt modelId="{53143759-1138-4ACC-8257-C0B8B597E4A3}" type="pres">
      <dgm:prSet presAssocID="{0812C30A-CA3F-4F84-A1A5-E4EDE508A263}" presName="node" presStyleLbl="node1" presStyleIdx="3" presStyleCnt="6">
        <dgm:presLayoutVars>
          <dgm:bulletEnabled val="1"/>
        </dgm:presLayoutVars>
      </dgm:prSet>
      <dgm:spPr/>
    </dgm:pt>
    <dgm:pt modelId="{CD62D171-6878-4499-9D66-7C0B46C90539}" type="pres">
      <dgm:prSet presAssocID="{C02EB6AD-C175-488C-81FE-2D308194DA05}" presName="sibTrans" presStyleCnt="0"/>
      <dgm:spPr/>
    </dgm:pt>
    <dgm:pt modelId="{9DDC70E4-D946-4964-A0A9-938FEE2B0750}" type="pres">
      <dgm:prSet presAssocID="{CAF98990-D797-4CA3-B91B-20AE583ED759}" presName="node" presStyleLbl="node1" presStyleIdx="4" presStyleCnt="6">
        <dgm:presLayoutVars>
          <dgm:bulletEnabled val="1"/>
        </dgm:presLayoutVars>
      </dgm:prSet>
      <dgm:spPr/>
    </dgm:pt>
    <dgm:pt modelId="{9B375C0E-D8BF-47DD-806D-47FD73DCD51C}" type="pres">
      <dgm:prSet presAssocID="{A3AE7A85-5E14-4532-8FEB-C6334204E88D}" presName="sibTrans" presStyleCnt="0"/>
      <dgm:spPr/>
    </dgm:pt>
    <dgm:pt modelId="{438BEC22-48C6-4253-BE63-F78D14A3AFAD}" type="pres">
      <dgm:prSet presAssocID="{6B191835-CD9C-4261-899B-ABCBCF35F53D}" presName="node" presStyleLbl="node1" presStyleIdx="5" presStyleCnt="6">
        <dgm:presLayoutVars>
          <dgm:bulletEnabled val="1"/>
        </dgm:presLayoutVars>
      </dgm:prSet>
      <dgm:spPr/>
    </dgm:pt>
  </dgm:ptLst>
  <dgm:cxnLst>
    <dgm:cxn modelId="{422CCB0D-F3E9-4CD8-A850-918CF4ABAF93}" srcId="{90A384C5-1F43-422C-ADF6-041BCE2CA489}" destId="{BEE30A48-E250-4F46-AE9A-4B6A4E3C60AA}" srcOrd="1" destOrd="0" parTransId="{325F4409-CB8D-46F3-9836-278022AFCD48}" sibTransId="{AEDA945C-CA44-456B-9165-497BFD1B7948}"/>
    <dgm:cxn modelId="{A24D9E19-9567-4D4C-B1EF-D40D11312930}" srcId="{90A384C5-1F43-422C-ADF6-041BCE2CA489}" destId="{3D2594F4-2B2E-477A-B525-261259344680}" srcOrd="2" destOrd="0" parTransId="{0ED17A7A-B3C0-4F52-9505-6478CE235C24}" sibTransId="{5F02C5F4-6278-433F-811D-2E7B146F8C2D}"/>
    <dgm:cxn modelId="{A65CA31A-46AB-45B6-817A-965F465A243E}" type="presOf" srcId="{BEE30A48-E250-4F46-AE9A-4B6A4E3C60AA}" destId="{5425505D-D56B-4377-9A5E-F6EAE6E80E60}" srcOrd="0" destOrd="0" presId="urn:microsoft.com/office/officeart/2005/8/layout/default"/>
    <dgm:cxn modelId="{299BB821-5A46-45B3-A293-7527DF04C5F3}" type="presOf" srcId="{CAF98990-D797-4CA3-B91B-20AE583ED759}" destId="{9DDC70E4-D946-4964-A0A9-938FEE2B0750}" srcOrd="0" destOrd="0" presId="urn:microsoft.com/office/officeart/2005/8/layout/default"/>
    <dgm:cxn modelId="{FB203C38-24D8-4BB1-B7EE-A9219F6B30D5}" srcId="{90A384C5-1F43-422C-ADF6-041BCE2CA489}" destId="{B30CCC91-5CE3-4B96-A4F5-06DB76A87638}" srcOrd="0" destOrd="0" parTransId="{FEC691E3-0765-48EF-BE10-E0D5F6073447}" sibTransId="{34554E31-3103-4057-8362-E6D137A4F4E7}"/>
    <dgm:cxn modelId="{AE078440-4361-4FB4-A011-57A2E2316DF4}" type="presOf" srcId="{6B191835-CD9C-4261-899B-ABCBCF35F53D}" destId="{438BEC22-48C6-4253-BE63-F78D14A3AFAD}" srcOrd="0" destOrd="0" presId="urn:microsoft.com/office/officeart/2005/8/layout/default"/>
    <dgm:cxn modelId="{26B56A42-7147-48E3-B759-EFCAE8646F18}" srcId="{90A384C5-1F43-422C-ADF6-041BCE2CA489}" destId="{6B191835-CD9C-4261-899B-ABCBCF35F53D}" srcOrd="5" destOrd="0" parTransId="{4171E244-F45B-4DEC-BD65-495A899993FA}" sibTransId="{114FC9F7-9511-428B-BB0D-8A95F61D02EA}"/>
    <dgm:cxn modelId="{1AFE9A72-C57B-4DEB-8144-8B4A03B39E3A}" type="presOf" srcId="{90A384C5-1F43-422C-ADF6-041BCE2CA489}" destId="{410C6ACB-164A-4951-97D7-F8AAF3AB3760}" srcOrd="0" destOrd="0" presId="urn:microsoft.com/office/officeart/2005/8/layout/default"/>
    <dgm:cxn modelId="{42385574-FEEC-4011-BE46-43C1F4B23309}" type="presOf" srcId="{B30CCC91-5CE3-4B96-A4F5-06DB76A87638}" destId="{7B8E2CBD-27C0-4B69-855E-C9D2F589FE2E}" srcOrd="0" destOrd="0" presId="urn:microsoft.com/office/officeart/2005/8/layout/default"/>
    <dgm:cxn modelId="{8672FB56-948A-47FF-8AF7-EF3758D6714B}" type="presOf" srcId="{0812C30A-CA3F-4F84-A1A5-E4EDE508A263}" destId="{53143759-1138-4ACC-8257-C0B8B597E4A3}" srcOrd="0" destOrd="0" presId="urn:microsoft.com/office/officeart/2005/8/layout/default"/>
    <dgm:cxn modelId="{EE4238AF-1235-4640-B1E0-6980A92067F7}" srcId="{90A384C5-1F43-422C-ADF6-041BCE2CA489}" destId="{0812C30A-CA3F-4F84-A1A5-E4EDE508A263}" srcOrd="3" destOrd="0" parTransId="{4DE677C2-0BDE-45F8-AC07-9A0ACDCFE1C8}" sibTransId="{C02EB6AD-C175-488C-81FE-2D308194DA05}"/>
    <dgm:cxn modelId="{3D2837C2-C2AF-43AC-A037-6045DED7A8F2}" type="presOf" srcId="{3D2594F4-2B2E-477A-B525-261259344680}" destId="{ED0A119E-E1DA-437D-B9AA-E48FCCAF1B5C}" srcOrd="0" destOrd="0" presId="urn:microsoft.com/office/officeart/2005/8/layout/default"/>
    <dgm:cxn modelId="{1601FBD9-1FDC-4DA3-A2E5-C4D3D8EA15D8}" srcId="{90A384C5-1F43-422C-ADF6-041BCE2CA489}" destId="{CAF98990-D797-4CA3-B91B-20AE583ED759}" srcOrd="4" destOrd="0" parTransId="{AB31C37C-B5B5-4901-947E-AE22EAB6D048}" sibTransId="{A3AE7A85-5E14-4532-8FEB-C6334204E88D}"/>
    <dgm:cxn modelId="{E8CA657D-684E-4CE9-8A98-CE28EF85EDEE}" type="presParOf" srcId="{410C6ACB-164A-4951-97D7-F8AAF3AB3760}" destId="{7B8E2CBD-27C0-4B69-855E-C9D2F589FE2E}" srcOrd="0" destOrd="0" presId="urn:microsoft.com/office/officeart/2005/8/layout/default"/>
    <dgm:cxn modelId="{668E8D0E-E0E9-4B6F-8453-6EB6BEF0D778}" type="presParOf" srcId="{410C6ACB-164A-4951-97D7-F8AAF3AB3760}" destId="{41DD80A6-E6E8-4D3D-ABBD-4E269945B20A}" srcOrd="1" destOrd="0" presId="urn:microsoft.com/office/officeart/2005/8/layout/default"/>
    <dgm:cxn modelId="{AC944BAF-E52B-496F-B396-BA9DE7BC9997}" type="presParOf" srcId="{410C6ACB-164A-4951-97D7-F8AAF3AB3760}" destId="{5425505D-D56B-4377-9A5E-F6EAE6E80E60}" srcOrd="2" destOrd="0" presId="urn:microsoft.com/office/officeart/2005/8/layout/default"/>
    <dgm:cxn modelId="{B2455E85-B9A6-44E4-B9AF-4910E458B408}" type="presParOf" srcId="{410C6ACB-164A-4951-97D7-F8AAF3AB3760}" destId="{13304A4D-2596-4475-8E63-F5C4615EF7CC}" srcOrd="3" destOrd="0" presId="urn:microsoft.com/office/officeart/2005/8/layout/default"/>
    <dgm:cxn modelId="{311F36E8-AE4D-462D-A3B2-94CC7237CD6B}" type="presParOf" srcId="{410C6ACB-164A-4951-97D7-F8AAF3AB3760}" destId="{ED0A119E-E1DA-437D-B9AA-E48FCCAF1B5C}" srcOrd="4" destOrd="0" presId="urn:microsoft.com/office/officeart/2005/8/layout/default"/>
    <dgm:cxn modelId="{E9C0BE51-459D-45E2-B527-A3D33CC274CD}" type="presParOf" srcId="{410C6ACB-164A-4951-97D7-F8AAF3AB3760}" destId="{78B76A92-A675-4D4D-8859-13D3E8538A6A}" srcOrd="5" destOrd="0" presId="urn:microsoft.com/office/officeart/2005/8/layout/default"/>
    <dgm:cxn modelId="{22873249-0523-4226-BFF5-0E5331C862AB}" type="presParOf" srcId="{410C6ACB-164A-4951-97D7-F8AAF3AB3760}" destId="{53143759-1138-4ACC-8257-C0B8B597E4A3}" srcOrd="6" destOrd="0" presId="urn:microsoft.com/office/officeart/2005/8/layout/default"/>
    <dgm:cxn modelId="{46F92241-64BD-42F5-8A5B-9E0683C3C31E}" type="presParOf" srcId="{410C6ACB-164A-4951-97D7-F8AAF3AB3760}" destId="{CD62D171-6878-4499-9D66-7C0B46C90539}" srcOrd="7" destOrd="0" presId="urn:microsoft.com/office/officeart/2005/8/layout/default"/>
    <dgm:cxn modelId="{3673FE20-ABB1-4598-BF2B-ACC9AA69C882}" type="presParOf" srcId="{410C6ACB-164A-4951-97D7-F8AAF3AB3760}" destId="{9DDC70E4-D946-4964-A0A9-938FEE2B0750}" srcOrd="8" destOrd="0" presId="urn:microsoft.com/office/officeart/2005/8/layout/default"/>
    <dgm:cxn modelId="{9E0EB83F-BE6D-489F-95C7-682542306DF7}" type="presParOf" srcId="{410C6ACB-164A-4951-97D7-F8AAF3AB3760}" destId="{9B375C0E-D8BF-47DD-806D-47FD73DCD51C}" srcOrd="9" destOrd="0" presId="urn:microsoft.com/office/officeart/2005/8/layout/default"/>
    <dgm:cxn modelId="{876B33D5-2158-4656-B1F8-98AE766A247C}" type="presParOf" srcId="{410C6ACB-164A-4951-97D7-F8AAF3AB3760}" destId="{438BEC22-48C6-4253-BE63-F78D14A3AFA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A384C5-1F43-422C-ADF6-041BCE2CA489}" type="doc">
      <dgm:prSet loTypeId="urn:microsoft.com/office/officeart/2005/8/layout/default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BC55D948-2E13-4F0A-87F6-5457F1035EFC}">
      <dgm:prSet phldr="0"/>
      <dgm:spPr/>
      <dgm:t>
        <a:bodyPr/>
        <a:lstStyle/>
        <a:p>
          <a:pPr algn="l" rtl="0"/>
          <a:r>
            <a:rPr lang="en-GB" sz="2000" b="1" dirty="0"/>
            <a:t>Result: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Predictions closely match actual sales values.</a:t>
          </a:r>
          <a:endParaRPr lang="en-GB" sz="2000" dirty="0">
            <a:latin typeface="Garamond" panose="02020404030301010803"/>
          </a:endParaRPr>
        </a:p>
      </dgm:t>
    </dgm:pt>
    <dgm:pt modelId="{B4996482-408D-4954-9B02-E51EF255A2F4}" type="parTrans" cxnId="{97D8DEB9-1D99-4D17-A58C-9874CC1C938B}">
      <dgm:prSet/>
      <dgm:spPr/>
    </dgm:pt>
    <dgm:pt modelId="{B3214F1B-BC3C-4E49-808B-1213CB4C4A4A}" type="sibTrans" cxnId="{97D8DEB9-1D99-4D17-A58C-9874CC1C938B}">
      <dgm:prSet/>
      <dgm:spPr/>
    </dgm:pt>
    <dgm:pt modelId="{0639E4A5-BF21-42D3-BB0A-F90290CF43E3}">
      <dgm:prSet phldr="0"/>
      <dgm:spPr/>
      <dgm:t>
        <a:bodyPr/>
        <a:lstStyle/>
        <a:p>
          <a:pPr algn="l" rtl="0"/>
          <a:r>
            <a:rPr lang="en-GB" sz="2000" b="1" dirty="0"/>
            <a:t>Observation: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Small deviations exist but overall accuracy is strong.</a:t>
          </a:r>
          <a:endParaRPr lang="en-GB" dirty="0"/>
        </a:p>
      </dgm:t>
    </dgm:pt>
    <dgm:pt modelId="{82C06070-B38F-41D6-9CA2-752332816194}" type="parTrans" cxnId="{0672562F-87D4-471A-A8C3-FE4357E93BB2}">
      <dgm:prSet/>
      <dgm:spPr/>
    </dgm:pt>
    <dgm:pt modelId="{4CB1729D-6FCB-4213-9E0B-0EF8B3B2B1C4}" type="sibTrans" cxnId="{0672562F-87D4-471A-A8C3-FE4357E93BB2}">
      <dgm:prSet/>
      <dgm:spPr/>
    </dgm:pt>
    <dgm:pt modelId="{1B8D32CB-04B6-4A50-BA89-9BA83A6A8874}">
      <dgm:prSet phldr="0"/>
      <dgm:spPr/>
      <dgm:t>
        <a:bodyPr/>
        <a:lstStyle/>
        <a:p>
          <a:pPr algn="l" rtl="0"/>
          <a:r>
            <a:rPr lang="en-GB" sz="2000" b="1" dirty="0"/>
            <a:t>Insight: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The regression model is a reliable tool for sales prediction.</a:t>
          </a:r>
          <a:endParaRPr lang="en-GB" dirty="0"/>
        </a:p>
      </dgm:t>
    </dgm:pt>
    <dgm:pt modelId="{885BC75D-2B18-4797-9820-9CECE58E2685}" type="parTrans" cxnId="{23184D90-F163-4188-BB11-5936A715064E}">
      <dgm:prSet/>
      <dgm:spPr/>
    </dgm:pt>
    <dgm:pt modelId="{C7121828-4BBC-4771-A11F-2EFD83665D5C}" type="sibTrans" cxnId="{23184D90-F163-4188-BB11-5936A715064E}">
      <dgm:prSet/>
      <dgm:spPr/>
    </dgm:pt>
    <dgm:pt modelId="{C3ED42CD-F7E5-43D6-BB9A-7C2AC417F13E}">
      <dgm:prSet phldr="0"/>
      <dgm:spPr/>
      <dgm:t>
        <a:bodyPr/>
        <a:lstStyle/>
        <a:p>
          <a:pPr algn="l" rtl="0"/>
          <a:r>
            <a:rPr lang="en-GB" sz="2000" b="1" dirty="0"/>
            <a:t>Recommendation:</a:t>
          </a:r>
          <a:br>
            <a:rPr lang="en-GB" sz="2000" b="1" dirty="0">
              <a:latin typeface="Garamond" panose="02020404030301010803"/>
            </a:rPr>
          </a:br>
          <a:r>
            <a:rPr lang="en-GB" sz="2000" dirty="0"/>
            <a:t>Use the model for budget allocation decisions.</a:t>
          </a:r>
          <a:endParaRPr lang="en-GB" dirty="0"/>
        </a:p>
      </dgm:t>
    </dgm:pt>
    <dgm:pt modelId="{5DDC06D3-6332-4DA5-8B9E-9CBB4BBBEFE5}" type="parTrans" cxnId="{2632FAC3-AD4A-40C4-BE40-92819BF33B82}">
      <dgm:prSet/>
      <dgm:spPr/>
    </dgm:pt>
    <dgm:pt modelId="{6E162215-B182-4B0C-80F5-7A47A1F9DFBD}" type="sibTrans" cxnId="{2632FAC3-AD4A-40C4-BE40-92819BF33B82}">
      <dgm:prSet/>
      <dgm:spPr/>
    </dgm:pt>
    <dgm:pt modelId="{2084321F-72FF-48A0-8667-E60B924D0AA4}">
      <dgm:prSet phldr="0"/>
      <dgm:spPr/>
      <dgm:t>
        <a:bodyPr/>
        <a:lstStyle/>
        <a:p>
          <a:pPr algn="l" rtl="0"/>
          <a:r>
            <a:rPr lang="en-GB" sz="2000" b="1" dirty="0"/>
            <a:t>Conclusion:</a:t>
          </a:r>
          <a:r>
            <a:rPr lang="en-GB" sz="2000" dirty="0"/>
            <a:t> </a:t>
          </a:r>
          <a:br>
            <a:rPr lang="en-GB" sz="20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000" dirty="0"/>
            <a:t>Multiple regression is effective in predicting sales.</a:t>
          </a:r>
          <a:endParaRPr lang="en-GB" dirty="0"/>
        </a:p>
      </dgm:t>
    </dgm:pt>
    <dgm:pt modelId="{D5D18FC5-4944-47EF-A6CE-172483CD2476}" type="parTrans" cxnId="{8773783C-CB1F-4984-A6FD-F4B95648718B}">
      <dgm:prSet/>
      <dgm:spPr/>
    </dgm:pt>
    <dgm:pt modelId="{B71B724E-D0CC-4FC9-AF85-F07BF38F4222}" type="sibTrans" cxnId="{8773783C-CB1F-4984-A6FD-F4B95648718B}">
      <dgm:prSet/>
      <dgm:spPr/>
    </dgm:pt>
    <dgm:pt modelId="{8572BA10-0AD9-4A94-8AC7-DA7B1AA957FC}">
      <dgm:prSet phldr="0"/>
      <dgm:spPr/>
      <dgm:t>
        <a:bodyPr/>
        <a:lstStyle/>
        <a:p>
          <a:pPr algn="l" rtl="0"/>
          <a:r>
            <a:rPr lang="en-GB" sz="2000" b="1" dirty="0"/>
            <a:t>Key takeaway:</a:t>
          </a:r>
          <a:r>
            <a:rPr lang="en-GB" sz="2000" dirty="0"/>
            <a:t> </a:t>
          </a:r>
          <a:br>
            <a:rPr lang="en-GB" sz="20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000" dirty="0"/>
            <a:t>The model could be improved further by adding new advertising or digital marketing channels.</a:t>
          </a:r>
          <a:endParaRPr lang="en-GB" dirty="0"/>
        </a:p>
      </dgm:t>
    </dgm:pt>
    <dgm:pt modelId="{6D2C21C2-A91F-4857-AE47-79BB163B820E}" type="parTrans" cxnId="{0536E852-5A1A-4402-BE0D-A317D230DDD5}">
      <dgm:prSet/>
      <dgm:spPr/>
    </dgm:pt>
    <dgm:pt modelId="{819C7D0D-52C5-4D44-8CBA-265A97883AA6}" type="sibTrans" cxnId="{0536E852-5A1A-4402-BE0D-A317D230DDD5}">
      <dgm:prSet/>
      <dgm:spPr/>
    </dgm:pt>
    <dgm:pt modelId="{410C6ACB-164A-4951-97D7-F8AAF3AB3760}" type="pres">
      <dgm:prSet presAssocID="{90A384C5-1F43-422C-ADF6-041BCE2CA489}" presName="diagram" presStyleCnt="0">
        <dgm:presLayoutVars>
          <dgm:dir/>
          <dgm:resizeHandles val="exact"/>
        </dgm:presLayoutVars>
      </dgm:prSet>
      <dgm:spPr/>
    </dgm:pt>
    <dgm:pt modelId="{89F25B93-B4AF-4140-9632-A051745747F8}" type="pres">
      <dgm:prSet presAssocID="{BC55D948-2E13-4F0A-87F6-5457F1035EFC}" presName="node" presStyleLbl="node1" presStyleIdx="0" presStyleCnt="6">
        <dgm:presLayoutVars>
          <dgm:bulletEnabled val="1"/>
        </dgm:presLayoutVars>
      </dgm:prSet>
      <dgm:spPr/>
    </dgm:pt>
    <dgm:pt modelId="{018E42DB-3329-4975-9E53-DBF6292AE066}" type="pres">
      <dgm:prSet presAssocID="{B3214F1B-BC3C-4E49-808B-1213CB4C4A4A}" presName="sibTrans" presStyleCnt="0"/>
      <dgm:spPr/>
    </dgm:pt>
    <dgm:pt modelId="{14C6B9AA-01D2-4FD5-A831-F9C8D1CFD369}" type="pres">
      <dgm:prSet presAssocID="{0639E4A5-BF21-42D3-BB0A-F90290CF43E3}" presName="node" presStyleLbl="node1" presStyleIdx="1" presStyleCnt="6">
        <dgm:presLayoutVars>
          <dgm:bulletEnabled val="1"/>
        </dgm:presLayoutVars>
      </dgm:prSet>
      <dgm:spPr/>
    </dgm:pt>
    <dgm:pt modelId="{B833CBF8-0FB5-4BC4-BA17-2EE255B89796}" type="pres">
      <dgm:prSet presAssocID="{4CB1729D-6FCB-4213-9E0B-0EF8B3B2B1C4}" presName="sibTrans" presStyleCnt="0"/>
      <dgm:spPr/>
    </dgm:pt>
    <dgm:pt modelId="{38DB91FF-4BD4-4358-BFB6-3880385E14F5}" type="pres">
      <dgm:prSet presAssocID="{1B8D32CB-04B6-4A50-BA89-9BA83A6A8874}" presName="node" presStyleLbl="node1" presStyleIdx="2" presStyleCnt="6">
        <dgm:presLayoutVars>
          <dgm:bulletEnabled val="1"/>
        </dgm:presLayoutVars>
      </dgm:prSet>
      <dgm:spPr/>
    </dgm:pt>
    <dgm:pt modelId="{E28B3623-7C5E-4F31-8995-2408A925A785}" type="pres">
      <dgm:prSet presAssocID="{C7121828-4BBC-4771-A11F-2EFD83665D5C}" presName="sibTrans" presStyleCnt="0"/>
      <dgm:spPr/>
    </dgm:pt>
    <dgm:pt modelId="{CA598264-AEB5-4B5A-BFFB-5D62CA8C009D}" type="pres">
      <dgm:prSet presAssocID="{C3ED42CD-F7E5-43D6-BB9A-7C2AC417F13E}" presName="node" presStyleLbl="node1" presStyleIdx="3" presStyleCnt="6">
        <dgm:presLayoutVars>
          <dgm:bulletEnabled val="1"/>
        </dgm:presLayoutVars>
      </dgm:prSet>
      <dgm:spPr/>
    </dgm:pt>
    <dgm:pt modelId="{AEF2DE05-37F0-484E-9D39-4366DC429F49}" type="pres">
      <dgm:prSet presAssocID="{6E162215-B182-4B0C-80F5-7A47A1F9DFBD}" presName="sibTrans" presStyleCnt="0"/>
      <dgm:spPr/>
    </dgm:pt>
    <dgm:pt modelId="{20C77B5C-D3B0-42AF-9093-5E193014E815}" type="pres">
      <dgm:prSet presAssocID="{2084321F-72FF-48A0-8667-E60B924D0AA4}" presName="node" presStyleLbl="node1" presStyleIdx="4" presStyleCnt="6">
        <dgm:presLayoutVars>
          <dgm:bulletEnabled val="1"/>
        </dgm:presLayoutVars>
      </dgm:prSet>
      <dgm:spPr/>
    </dgm:pt>
    <dgm:pt modelId="{38C80EAB-5260-4BB4-8DCB-2EE4E30A9885}" type="pres">
      <dgm:prSet presAssocID="{B71B724E-D0CC-4FC9-AF85-F07BF38F4222}" presName="sibTrans" presStyleCnt="0"/>
      <dgm:spPr/>
    </dgm:pt>
    <dgm:pt modelId="{F2469320-716E-458F-913F-ECB413626F84}" type="pres">
      <dgm:prSet presAssocID="{8572BA10-0AD9-4A94-8AC7-DA7B1AA957FC}" presName="node" presStyleLbl="node1" presStyleIdx="5" presStyleCnt="6">
        <dgm:presLayoutVars>
          <dgm:bulletEnabled val="1"/>
        </dgm:presLayoutVars>
      </dgm:prSet>
      <dgm:spPr/>
    </dgm:pt>
  </dgm:ptLst>
  <dgm:cxnLst>
    <dgm:cxn modelId="{0315DE23-B302-4D2F-9BA0-35CB7BB1F5F0}" type="presOf" srcId="{BC55D948-2E13-4F0A-87F6-5457F1035EFC}" destId="{89F25B93-B4AF-4140-9632-A051745747F8}" srcOrd="0" destOrd="0" presId="urn:microsoft.com/office/officeart/2005/8/layout/default"/>
    <dgm:cxn modelId="{0672562F-87D4-471A-A8C3-FE4357E93BB2}" srcId="{90A384C5-1F43-422C-ADF6-041BCE2CA489}" destId="{0639E4A5-BF21-42D3-BB0A-F90290CF43E3}" srcOrd="1" destOrd="0" parTransId="{82C06070-B38F-41D6-9CA2-752332816194}" sibTransId="{4CB1729D-6FCB-4213-9E0B-0EF8B3B2B1C4}"/>
    <dgm:cxn modelId="{FB14E039-1267-4631-ADDE-C86603E0A309}" type="presOf" srcId="{8572BA10-0AD9-4A94-8AC7-DA7B1AA957FC}" destId="{F2469320-716E-458F-913F-ECB413626F84}" srcOrd="0" destOrd="0" presId="urn:microsoft.com/office/officeart/2005/8/layout/default"/>
    <dgm:cxn modelId="{8773783C-CB1F-4984-A6FD-F4B95648718B}" srcId="{90A384C5-1F43-422C-ADF6-041BCE2CA489}" destId="{2084321F-72FF-48A0-8667-E60B924D0AA4}" srcOrd="4" destOrd="0" parTransId="{D5D18FC5-4944-47EF-A6CE-172483CD2476}" sibTransId="{B71B724E-D0CC-4FC9-AF85-F07BF38F4222}"/>
    <dgm:cxn modelId="{1AFE9A72-C57B-4DEB-8144-8B4A03B39E3A}" type="presOf" srcId="{90A384C5-1F43-422C-ADF6-041BCE2CA489}" destId="{410C6ACB-164A-4951-97D7-F8AAF3AB3760}" srcOrd="0" destOrd="0" presId="urn:microsoft.com/office/officeart/2005/8/layout/default"/>
    <dgm:cxn modelId="{0536E852-5A1A-4402-BE0D-A317D230DDD5}" srcId="{90A384C5-1F43-422C-ADF6-041BCE2CA489}" destId="{8572BA10-0AD9-4A94-8AC7-DA7B1AA957FC}" srcOrd="5" destOrd="0" parTransId="{6D2C21C2-A91F-4857-AE47-79BB163B820E}" sibTransId="{819C7D0D-52C5-4D44-8CBA-265A97883AA6}"/>
    <dgm:cxn modelId="{8CC96155-36F5-4B82-BBC4-B3BE27B84992}" type="presOf" srcId="{C3ED42CD-F7E5-43D6-BB9A-7C2AC417F13E}" destId="{CA598264-AEB5-4B5A-BFFB-5D62CA8C009D}" srcOrd="0" destOrd="0" presId="urn:microsoft.com/office/officeart/2005/8/layout/default"/>
    <dgm:cxn modelId="{2F48C883-2150-4549-9F20-3E135C030442}" type="presOf" srcId="{0639E4A5-BF21-42D3-BB0A-F90290CF43E3}" destId="{14C6B9AA-01D2-4FD5-A831-F9C8D1CFD369}" srcOrd="0" destOrd="0" presId="urn:microsoft.com/office/officeart/2005/8/layout/default"/>
    <dgm:cxn modelId="{23184D90-F163-4188-BB11-5936A715064E}" srcId="{90A384C5-1F43-422C-ADF6-041BCE2CA489}" destId="{1B8D32CB-04B6-4A50-BA89-9BA83A6A8874}" srcOrd="2" destOrd="0" parTransId="{885BC75D-2B18-4797-9820-9CECE58E2685}" sibTransId="{C7121828-4BBC-4771-A11F-2EFD83665D5C}"/>
    <dgm:cxn modelId="{97D8DEB9-1D99-4D17-A58C-9874CC1C938B}" srcId="{90A384C5-1F43-422C-ADF6-041BCE2CA489}" destId="{BC55D948-2E13-4F0A-87F6-5457F1035EFC}" srcOrd="0" destOrd="0" parTransId="{B4996482-408D-4954-9B02-E51EF255A2F4}" sibTransId="{B3214F1B-BC3C-4E49-808B-1213CB4C4A4A}"/>
    <dgm:cxn modelId="{2632FAC3-AD4A-40C4-BE40-92819BF33B82}" srcId="{90A384C5-1F43-422C-ADF6-041BCE2CA489}" destId="{C3ED42CD-F7E5-43D6-BB9A-7C2AC417F13E}" srcOrd="3" destOrd="0" parTransId="{5DDC06D3-6332-4DA5-8B9E-9CBB4BBBEFE5}" sibTransId="{6E162215-B182-4B0C-80F5-7A47A1F9DFBD}"/>
    <dgm:cxn modelId="{7E2592CA-F9E2-4B20-8DCE-BB263942A7BE}" type="presOf" srcId="{1B8D32CB-04B6-4A50-BA89-9BA83A6A8874}" destId="{38DB91FF-4BD4-4358-BFB6-3880385E14F5}" srcOrd="0" destOrd="0" presId="urn:microsoft.com/office/officeart/2005/8/layout/default"/>
    <dgm:cxn modelId="{B1A4E5CF-9A7A-4376-994B-3AEDBF5E2C24}" type="presOf" srcId="{2084321F-72FF-48A0-8667-E60B924D0AA4}" destId="{20C77B5C-D3B0-42AF-9093-5E193014E815}" srcOrd="0" destOrd="0" presId="urn:microsoft.com/office/officeart/2005/8/layout/default"/>
    <dgm:cxn modelId="{8EFB96DF-3EC7-413B-A398-8C0F5F3B9572}" type="presParOf" srcId="{410C6ACB-164A-4951-97D7-F8AAF3AB3760}" destId="{89F25B93-B4AF-4140-9632-A051745747F8}" srcOrd="0" destOrd="0" presId="urn:microsoft.com/office/officeart/2005/8/layout/default"/>
    <dgm:cxn modelId="{39FDDE23-EB6B-4F47-8531-52C40E8AB5F7}" type="presParOf" srcId="{410C6ACB-164A-4951-97D7-F8AAF3AB3760}" destId="{018E42DB-3329-4975-9E53-DBF6292AE066}" srcOrd="1" destOrd="0" presId="urn:microsoft.com/office/officeart/2005/8/layout/default"/>
    <dgm:cxn modelId="{2EF61FBF-FAAD-4EBA-945D-58E81D73854D}" type="presParOf" srcId="{410C6ACB-164A-4951-97D7-F8AAF3AB3760}" destId="{14C6B9AA-01D2-4FD5-A831-F9C8D1CFD369}" srcOrd="2" destOrd="0" presId="urn:microsoft.com/office/officeart/2005/8/layout/default"/>
    <dgm:cxn modelId="{7278DE1F-F6CB-4B35-BC7F-B5177902BEF6}" type="presParOf" srcId="{410C6ACB-164A-4951-97D7-F8AAF3AB3760}" destId="{B833CBF8-0FB5-4BC4-BA17-2EE255B89796}" srcOrd="3" destOrd="0" presId="urn:microsoft.com/office/officeart/2005/8/layout/default"/>
    <dgm:cxn modelId="{9C8C3B41-07EE-4F83-ABDC-652A6C76CD59}" type="presParOf" srcId="{410C6ACB-164A-4951-97D7-F8AAF3AB3760}" destId="{38DB91FF-4BD4-4358-BFB6-3880385E14F5}" srcOrd="4" destOrd="0" presId="urn:microsoft.com/office/officeart/2005/8/layout/default"/>
    <dgm:cxn modelId="{9323B374-0590-4819-B72E-ACF494D0530A}" type="presParOf" srcId="{410C6ACB-164A-4951-97D7-F8AAF3AB3760}" destId="{E28B3623-7C5E-4F31-8995-2408A925A785}" srcOrd="5" destOrd="0" presId="urn:microsoft.com/office/officeart/2005/8/layout/default"/>
    <dgm:cxn modelId="{13C40A01-590D-4770-B777-6AE38E721CF3}" type="presParOf" srcId="{410C6ACB-164A-4951-97D7-F8AAF3AB3760}" destId="{CA598264-AEB5-4B5A-BFFB-5D62CA8C009D}" srcOrd="6" destOrd="0" presId="urn:microsoft.com/office/officeart/2005/8/layout/default"/>
    <dgm:cxn modelId="{17FD4FAB-1DFF-412E-A4A0-3125083BFAAF}" type="presParOf" srcId="{410C6ACB-164A-4951-97D7-F8AAF3AB3760}" destId="{AEF2DE05-37F0-484E-9D39-4366DC429F49}" srcOrd="7" destOrd="0" presId="urn:microsoft.com/office/officeart/2005/8/layout/default"/>
    <dgm:cxn modelId="{F6109DCD-A811-450B-90F6-988902541667}" type="presParOf" srcId="{410C6ACB-164A-4951-97D7-F8AAF3AB3760}" destId="{20C77B5C-D3B0-42AF-9093-5E193014E815}" srcOrd="8" destOrd="0" presId="urn:microsoft.com/office/officeart/2005/8/layout/default"/>
    <dgm:cxn modelId="{E3E29FF2-E7FB-43A8-B610-C4D29E5300E2}" type="presParOf" srcId="{410C6ACB-164A-4951-97D7-F8AAF3AB3760}" destId="{38C80EAB-5260-4BB4-8DCB-2EE4E30A9885}" srcOrd="9" destOrd="0" presId="urn:microsoft.com/office/officeart/2005/8/layout/default"/>
    <dgm:cxn modelId="{1788B47C-6541-4229-8995-9216C9A8FB68}" type="presParOf" srcId="{410C6ACB-164A-4951-97D7-F8AAF3AB3760}" destId="{F2469320-716E-458F-913F-ECB413626F8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A384C5-1F43-422C-ADF6-041BCE2CA489}" type="doc">
      <dgm:prSet loTypeId="urn:microsoft.com/office/officeart/2005/8/layout/default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AC78A418-5AB4-4101-A7D8-3CD34ABEE9EA}">
      <dgm:prSet phldr="0"/>
      <dgm:spPr/>
      <dgm:t>
        <a:bodyPr/>
        <a:lstStyle/>
        <a:p>
          <a:pPr algn="l" rtl="0"/>
          <a:r>
            <a:rPr lang="en-GB" sz="2000" b="1" dirty="0"/>
            <a:t>Key takeaway:</a:t>
          </a:r>
          <a:r>
            <a:rPr lang="en-GB" sz="2000" b="0" dirty="0"/>
            <a:t> </a:t>
          </a:r>
          <a:br>
            <a:rPr lang="en-GB" sz="2000" b="0" dirty="0">
              <a:latin typeface="Garamond" panose="02020404030301010803"/>
            </a:rPr>
          </a:br>
          <a:r>
            <a:rPr lang="en-GB" sz="2000" b="0" dirty="0"/>
            <a:t>This predictive ability supports better resource allocation and risk reduction.</a:t>
          </a:r>
          <a:endParaRPr lang="en-GB" dirty="0"/>
        </a:p>
      </dgm:t>
    </dgm:pt>
    <dgm:pt modelId="{97E858B9-94CE-4CD1-AF64-DD6EEE58E3F5}" type="parTrans" cxnId="{29DD2718-48BF-476C-BE5E-6C5484B1CEA6}">
      <dgm:prSet/>
      <dgm:spPr/>
    </dgm:pt>
    <dgm:pt modelId="{721BCE9D-28B5-4632-8EB4-A5D5A2E48017}" type="sibTrans" cxnId="{29DD2718-48BF-476C-BE5E-6C5484B1CEA6}">
      <dgm:prSet/>
      <dgm:spPr/>
    </dgm:pt>
    <dgm:pt modelId="{E1BDABDD-4DE0-4088-A2CD-F6232BB32045}">
      <dgm:prSet phldr="0"/>
      <dgm:spPr/>
      <dgm:t>
        <a:bodyPr/>
        <a:lstStyle/>
        <a:p>
          <a:pPr algn="l" rtl="0"/>
          <a:r>
            <a:rPr lang="en-GB" sz="2000" b="1" dirty="0"/>
            <a:t>Result:</a:t>
          </a:r>
          <a:r>
            <a:rPr lang="en-GB" sz="2000" b="0" dirty="0"/>
            <a:t> </a:t>
          </a:r>
          <a:br>
            <a:rPr lang="en-GB" sz="2000" b="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000" b="0" dirty="0"/>
            <a:t>Predicted Sales ≈ 19.8 units.</a:t>
          </a:r>
        </a:p>
      </dgm:t>
    </dgm:pt>
    <dgm:pt modelId="{3741C5D0-B149-4C0C-AC80-6F326EA91D46}" type="parTrans" cxnId="{AEDC3303-CFE2-4E9C-9899-2B4752347F58}">
      <dgm:prSet/>
      <dgm:spPr/>
    </dgm:pt>
    <dgm:pt modelId="{885596F4-9A61-40BE-91EB-533368D1E539}" type="sibTrans" cxnId="{AEDC3303-CFE2-4E9C-9899-2B4752347F58}">
      <dgm:prSet/>
      <dgm:spPr/>
    </dgm:pt>
    <dgm:pt modelId="{5F80F875-15AE-49FE-8D22-3CBF8C273E12}">
      <dgm:prSet phldr="0"/>
      <dgm:spPr/>
      <dgm:t>
        <a:bodyPr/>
        <a:lstStyle/>
        <a:p>
          <a:pPr algn="l" rtl="0"/>
          <a:r>
            <a:rPr lang="en-GB" sz="2000" b="1" dirty="0"/>
            <a:t>Observation:</a:t>
          </a:r>
          <a:r>
            <a:rPr lang="en-GB" sz="2000" b="0" dirty="0"/>
            <a:t> </a:t>
          </a:r>
          <a:br>
            <a:rPr lang="en-GB" sz="2000" b="0" dirty="0">
              <a:latin typeface="Garamond" panose="02020404030301010803"/>
            </a:rPr>
          </a:br>
          <a:r>
            <a:rPr lang="en-GB" sz="2000" b="0" dirty="0"/>
            <a:t>Model can forecast sales based on new inputs.</a:t>
          </a:r>
          <a:endParaRPr lang="en-GB" dirty="0"/>
        </a:p>
      </dgm:t>
    </dgm:pt>
    <dgm:pt modelId="{13F845D9-1E8A-4023-9894-9431B632F910}" type="parTrans" cxnId="{FBE1C076-0F83-4A0C-85DB-BF3F9C41EF94}">
      <dgm:prSet/>
      <dgm:spPr/>
    </dgm:pt>
    <dgm:pt modelId="{35B35307-948F-4C6F-B76F-E9107B0E8D45}" type="sibTrans" cxnId="{FBE1C076-0F83-4A0C-85DB-BF3F9C41EF94}">
      <dgm:prSet/>
      <dgm:spPr/>
    </dgm:pt>
    <dgm:pt modelId="{E4B09F11-6DEB-4915-B6DF-E85A5C58E914}">
      <dgm:prSet phldr="0"/>
      <dgm:spPr/>
      <dgm:t>
        <a:bodyPr/>
        <a:lstStyle/>
        <a:p>
          <a:pPr algn="l" rtl="0"/>
          <a:r>
            <a:rPr lang="en-GB" sz="2000" b="1" dirty="0"/>
            <a:t>Insight:</a:t>
          </a:r>
          <a:r>
            <a:rPr lang="en-GB" sz="2000" b="0" dirty="0"/>
            <a:t> </a:t>
          </a:r>
          <a:br>
            <a:rPr lang="en-GB" sz="2000" b="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000" b="0" dirty="0"/>
            <a:t>Useful for scenario planning with different ad spends.</a:t>
          </a:r>
          <a:endParaRPr lang="en-GB" dirty="0"/>
        </a:p>
      </dgm:t>
    </dgm:pt>
    <dgm:pt modelId="{050A37DC-7BC3-4FFD-9739-917A36F4DFD8}" type="parTrans" cxnId="{E15E0C36-1AC2-4E4A-9C6A-3AC645DE7F26}">
      <dgm:prSet/>
      <dgm:spPr/>
    </dgm:pt>
    <dgm:pt modelId="{3862DF11-09B2-498D-80BC-CF7E23487648}" type="sibTrans" cxnId="{E15E0C36-1AC2-4E4A-9C6A-3AC645DE7F26}">
      <dgm:prSet/>
      <dgm:spPr/>
    </dgm:pt>
    <dgm:pt modelId="{D1879DE5-6446-443C-9AD9-1C59DA535D08}">
      <dgm:prSet phldr="0"/>
      <dgm:spPr/>
      <dgm:t>
        <a:bodyPr/>
        <a:lstStyle/>
        <a:p>
          <a:pPr algn="l" rtl="0"/>
          <a:r>
            <a:rPr lang="en-GB" sz="2000" b="1" dirty="0"/>
            <a:t>Recommendation:</a:t>
          </a:r>
          <a:r>
            <a:rPr lang="en-GB" sz="2000" b="0" dirty="0"/>
            <a:t> </a:t>
          </a:r>
          <a:br>
            <a:rPr lang="en-GB" sz="2000" b="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000" b="0" dirty="0"/>
            <a:t>Apply the model for forecasting future campaigns.</a:t>
          </a:r>
          <a:endParaRPr lang="en-GB" dirty="0"/>
        </a:p>
      </dgm:t>
    </dgm:pt>
    <dgm:pt modelId="{BB3E0F44-329D-4745-AFAD-8BA056AE1A08}" type="parTrans" cxnId="{715F129C-EE74-404E-A161-BB1A8E5ECD6B}">
      <dgm:prSet/>
      <dgm:spPr/>
    </dgm:pt>
    <dgm:pt modelId="{718680C7-35C3-472E-8A1E-738F7AE1D269}" type="sibTrans" cxnId="{715F129C-EE74-404E-A161-BB1A8E5ECD6B}">
      <dgm:prSet/>
      <dgm:spPr/>
    </dgm:pt>
    <dgm:pt modelId="{0926B476-23F6-4870-8C00-6F78E0A32C68}">
      <dgm:prSet phldr="0"/>
      <dgm:spPr/>
      <dgm:t>
        <a:bodyPr/>
        <a:lstStyle/>
        <a:p>
          <a:pPr algn="l" rtl="0"/>
          <a:r>
            <a:rPr lang="en-GB" sz="2000" b="1" dirty="0"/>
            <a:t>Conclusion:</a:t>
          </a:r>
          <a:r>
            <a:rPr lang="en-GB" sz="2000" b="0" dirty="0"/>
            <a:t> </a:t>
          </a:r>
          <a:br>
            <a:rPr lang="en-GB" sz="2000" b="0" dirty="0">
              <a:latin typeface="Garamond" panose="02020404030301010803"/>
            </a:rPr>
          </a:br>
          <a:r>
            <a:rPr lang="en-GB" sz="2000" b="0" dirty="0"/>
            <a:t>Regression helps guide strategic budget planning.</a:t>
          </a:r>
          <a:endParaRPr lang="en-GB" dirty="0"/>
        </a:p>
      </dgm:t>
    </dgm:pt>
    <dgm:pt modelId="{F56AE39F-5AF7-4F9E-BCE3-AD5CB288B138}" type="parTrans" cxnId="{C561A48F-8AD8-46F8-95D0-842B19BCE244}">
      <dgm:prSet/>
      <dgm:spPr/>
    </dgm:pt>
    <dgm:pt modelId="{2D5832D7-0D2F-4C55-81F6-DFCE600D77A9}" type="sibTrans" cxnId="{C561A48F-8AD8-46F8-95D0-842B19BCE244}">
      <dgm:prSet/>
      <dgm:spPr/>
    </dgm:pt>
    <dgm:pt modelId="{410C6ACB-164A-4951-97D7-F8AAF3AB3760}" type="pres">
      <dgm:prSet presAssocID="{90A384C5-1F43-422C-ADF6-041BCE2CA489}" presName="diagram" presStyleCnt="0">
        <dgm:presLayoutVars>
          <dgm:dir/>
          <dgm:resizeHandles val="exact"/>
        </dgm:presLayoutVars>
      </dgm:prSet>
      <dgm:spPr/>
    </dgm:pt>
    <dgm:pt modelId="{BEE9B82D-34E2-4FE4-ADF2-820CEC522899}" type="pres">
      <dgm:prSet presAssocID="{E1BDABDD-4DE0-4088-A2CD-F6232BB32045}" presName="node" presStyleLbl="node1" presStyleIdx="0" presStyleCnt="6">
        <dgm:presLayoutVars>
          <dgm:bulletEnabled val="1"/>
        </dgm:presLayoutVars>
      </dgm:prSet>
      <dgm:spPr/>
    </dgm:pt>
    <dgm:pt modelId="{3AED255D-4EAA-4BFF-9BCE-6895C6A4D58F}" type="pres">
      <dgm:prSet presAssocID="{885596F4-9A61-40BE-91EB-533368D1E539}" presName="sibTrans" presStyleCnt="0"/>
      <dgm:spPr/>
    </dgm:pt>
    <dgm:pt modelId="{1B0FEACD-B49F-4CE7-AB08-A72E86014306}" type="pres">
      <dgm:prSet presAssocID="{5F80F875-15AE-49FE-8D22-3CBF8C273E12}" presName="node" presStyleLbl="node1" presStyleIdx="1" presStyleCnt="6">
        <dgm:presLayoutVars>
          <dgm:bulletEnabled val="1"/>
        </dgm:presLayoutVars>
      </dgm:prSet>
      <dgm:spPr/>
    </dgm:pt>
    <dgm:pt modelId="{0C56AA60-7CD8-4E68-B07E-70D2F53FDEB6}" type="pres">
      <dgm:prSet presAssocID="{35B35307-948F-4C6F-B76F-E9107B0E8D45}" presName="sibTrans" presStyleCnt="0"/>
      <dgm:spPr/>
    </dgm:pt>
    <dgm:pt modelId="{1C130D12-28F2-4B96-AF22-7E4BB67BDDA1}" type="pres">
      <dgm:prSet presAssocID="{E4B09F11-6DEB-4915-B6DF-E85A5C58E914}" presName="node" presStyleLbl="node1" presStyleIdx="2" presStyleCnt="6">
        <dgm:presLayoutVars>
          <dgm:bulletEnabled val="1"/>
        </dgm:presLayoutVars>
      </dgm:prSet>
      <dgm:spPr/>
    </dgm:pt>
    <dgm:pt modelId="{B17BFA37-E61C-4B1E-B660-67036EB0C9C9}" type="pres">
      <dgm:prSet presAssocID="{3862DF11-09B2-498D-80BC-CF7E23487648}" presName="sibTrans" presStyleCnt="0"/>
      <dgm:spPr/>
    </dgm:pt>
    <dgm:pt modelId="{368263CB-7AA7-4498-BB72-462C08E79624}" type="pres">
      <dgm:prSet presAssocID="{D1879DE5-6446-443C-9AD9-1C59DA535D08}" presName="node" presStyleLbl="node1" presStyleIdx="3" presStyleCnt="6">
        <dgm:presLayoutVars>
          <dgm:bulletEnabled val="1"/>
        </dgm:presLayoutVars>
      </dgm:prSet>
      <dgm:spPr/>
    </dgm:pt>
    <dgm:pt modelId="{4ADAA5FD-04E2-41FF-A363-74D8077E645A}" type="pres">
      <dgm:prSet presAssocID="{718680C7-35C3-472E-8A1E-738F7AE1D269}" presName="sibTrans" presStyleCnt="0"/>
      <dgm:spPr/>
    </dgm:pt>
    <dgm:pt modelId="{EB821E35-9710-4B86-974E-F63E862F73C7}" type="pres">
      <dgm:prSet presAssocID="{0926B476-23F6-4870-8C00-6F78E0A32C68}" presName="node" presStyleLbl="node1" presStyleIdx="4" presStyleCnt="6">
        <dgm:presLayoutVars>
          <dgm:bulletEnabled val="1"/>
        </dgm:presLayoutVars>
      </dgm:prSet>
      <dgm:spPr/>
    </dgm:pt>
    <dgm:pt modelId="{78793E73-CF3F-41D6-8C7C-2268161D76E2}" type="pres">
      <dgm:prSet presAssocID="{2D5832D7-0D2F-4C55-81F6-DFCE600D77A9}" presName="sibTrans" presStyleCnt="0"/>
      <dgm:spPr/>
    </dgm:pt>
    <dgm:pt modelId="{3B692C24-2726-4736-A694-CBF22D432C13}" type="pres">
      <dgm:prSet presAssocID="{AC78A418-5AB4-4101-A7D8-3CD34ABEE9EA}" presName="node" presStyleLbl="node1" presStyleIdx="5" presStyleCnt="6">
        <dgm:presLayoutVars>
          <dgm:bulletEnabled val="1"/>
        </dgm:presLayoutVars>
      </dgm:prSet>
      <dgm:spPr/>
    </dgm:pt>
  </dgm:ptLst>
  <dgm:cxnLst>
    <dgm:cxn modelId="{AEDC3303-CFE2-4E9C-9899-2B4752347F58}" srcId="{90A384C5-1F43-422C-ADF6-041BCE2CA489}" destId="{E1BDABDD-4DE0-4088-A2CD-F6232BB32045}" srcOrd="0" destOrd="0" parTransId="{3741C5D0-B149-4C0C-AC80-6F326EA91D46}" sibTransId="{885596F4-9A61-40BE-91EB-533368D1E539}"/>
    <dgm:cxn modelId="{29DD2718-48BF-476C-BE5E-6C5484B1CEA6}" srcId="{90A384C5-1F43-422C-ADF6-041BCE2CA489}" destId="{AC78A418-5AB4-4101-A7D8-3CD34ABEE9EA}" srcOrd="5" destOrd="0" parTransId="{97E858B9-94CE-4CD1-AF64-DD6EEE58E3F5}" sibTransId="{721BCE9D-28B5-4632-8EB4-A5D5A2E48017}"/>
    <dgm:cxn modelId="{F2514F31-6B63-424D-A4EF-5DD42ACF1A1C}" type="presOf" srcId="{D1879DE5-6446-443C-9AD9-1C59DA535D08}" destId="{368263CB-7AA7-4498-BB72-462C08E79624}" srcOrd="0" destOrd="0" presId="urn:microsoft.com/office/officeart/2005/8/layout/default"/>
    <dgm:cxn modelId="{E15E0C36-1AC2-4E4A-9C6A-3AC645DE7F26}" srcId="{90A384C5-1F43-422C-ADF6-041BCE2CA489}" destId="{E4B09F11-6DEB-4915-B6DF-E85A5C58E914}" srcOrd="2" destOrd="0" parTransId="{050A37DC-7BC3-4FFD-9739-917A36F4DFD8}" sibTransId="{3862DF11-09B2-498D-80BC-CF7E23487648}"/>
    <dgm:cxn modelId="{1AFE9A72-C57B-4DEB-8144-8B4A03B39E3A}" type="presOf" srcId="{90A384C5-1F43-422C-ADF6-041BCE2CA489}" destId="{410C6ACB-164A-4951-97D7-F8AAF3AB3760}" srcOrd="0" destOrd="0" presId="urn:microsoft.com/office/officeart/2005/8/layout/default"/>
    <dgm:cxn modelId="{FBE1C076-0F83-4A0C-85DB-BF3F9C41EF94}" srcId="{90A384C5-1F43-422C-ADF6-041BCE2CA489}" destId="{5F80F875-15AE-49FE-8D22-3CBF8C273E12}" srcOrd="1" destOrd="0" parTransId="{13F845D9-1E8A-4023-9894-9431B632F910}" sibTransId="{35B35307-948F-4C6F-B76F-E9107B0E8D45}"/>
    <dgm:cxn modelId="{985E547A-9AF1-4428-80A8-8F5D7EC9C789}" type="presOf" srcId="{0926B476-23F6-4870-8C00-6F78E0A32C68}" destId="{EB821E35-9710-4B86-974E-F63E862F73C7}" srcOrd="0" destOrd="0" presId="urn:microsoft.com/office/officeart/2005/8/layout/default"/>
    <dgm:cxn modelId="{8450BE85-5B2E-4AB0-89A1-6AE76FE9EC75}" type="presOf" srcId="{AC78A418-5AB4-4101-A7D8-3CD34ABEE9EA}" destId="{3B692C24-2726-4736-A694-CBF22D432C13}" srcOrd="0" destOrd="0" presId="urn:microsoft.com/office/officeart/2005/8/layout/default"/>
    <dgm:cxn modelId="{C561A48F-8AD8-46F8-95D0-842B19BCE244}" srcId="{90A384C5-1F43-422C-ADF6-041BCE2CA489}" destId="{0926B476-23F6-4870-8C00-6F78E0A32C68}" srcOrd="4" destOrd="0" parTransId="{F56AE39F-5AF7-4F9E-BCE3-AD5CB288B138}" sibTransId="{2D5832D7-0D2F-4C55-81F6-DFCE600D77A9}"/>
    <dgm:cxn modelId="{715F129C-EE74-404E-A161-BB1A8E5ECD6B}" srcId="{90A384C5-1F43-422C-ADF6-041BCE2CA489}" destId="{D1879DE5-6446-443C-9AD9-1C59DA535D08}" srcOrd="3" destOrd="0" parTransId="{BB3E0F44-329D-4745-AFAD-8BA056AE1A08}" sibTransId="{718680C7-35C3-472E-8A1E-738F7AE1D269}"/>
    <dgm:cxn modelId="{817B5DC4-85AE-4EDD-A2CD-7CE628C1F4AB}" type="presOf" srcId="{E1BDABDD-4DE0-4088-A2CD-F6232BB32045}" destId="{BEE9B82D-34E2-4FE4-ADF2-820CEC522899}" srcOrd="0" destOrd="0" presId="urn:microsoft.com/office/officeart/2005/8/layout/default"/>
    <dgm:cxn modelId="{EDD78BDC-DF4E-4430-9442-CFE0334D5B48}" type="presOf" srcId="{E4B09F11-6DEB-4915-B6DF-E85A5C58E914}" destId="{1C130D12-28F2-4B96-AF22-7E4BB67BDDA1}" srcOrd="0" destOrd="0" presId="urn:microsoft.com/office/officeart/2005/8/layout/default"/>
    <dgm:cxn modelId="{6D71FDEF-6CE0-4D5D-848B-27E3B50743E7}" type="presOf" srcId="{5F80F875-15AE-49FE-8D22-3CBF8C273E12}" destId="{1B0FEACD-B49F-4CE7-AB08-A72E86014306}" srcOrd="0" destOrd="0" presId="urn:microsoft.com/office/officeart/2005/8/layout/default"/>
    <dgm:cxn modelId="{84BD0E54-2CFF-4D9B-A354-E9FA966B80C6}" type="presParOf" srcId="{410C6ACB-164A-4951-97D7-F8AAF3AB3760}" destId="{BEE9B82D-34E2-4FE4-ADF2-820CEC522899}" srcOrd="0" destOrd="0" presId="urn:microsoft.com/office/officeart/2005/8/layout/default"/>
    <dgm:cxn modelId="{6A7CFA3F-1C4E-4483-A5C8-9914DB46F957}" type="presParOf" srcId="{410C6ACB-164A-4951-97D7-F8AAF3AB3760}" destId="{3AED255D-4EAA-4BFF-9BCE-6895C6A4D58F}" srcOrd="1" destOrd="0" presId="urn:microsoft.com/office/officeart/2005/8/layout/default"/>
    <dgm:cxn modelId="{C37882A0-76F3-42BA-8B81-A10C1F4B1645}" type="presParOf" srcId="{410C6ACB-164A-4951-97D7-F8AAF3AB3760}" destId="{1B0FEACD-B49F-4CE7-AB08-A72E86014306}" srcOrd="2" destOrd="0" presId="urn:microsoft.com/office/officeart/2005/8/layout/default"/>
    <dgm:cxn modelId="{37E1E218-01C6-43AC-97BD-994A29956372}" type="presParOf" srcId="{410C6ACB-164A-4951-97D7-F8AAF3AB3760}" destId="{0C56AA60-7CD8-4E68-B07E-70D2F53FDEB6}" srcOrd="3" destOrd="0" presId="urn:microsoft.com/office/officeart/2005/8/layout/default"/>
    <dgm:cxn modelId="{3566C6D7-83F9-4A84-844B-5317D2551DBA}" type="presParOf" srcId="{410C6ACB-164A-4951-97D7-F8AAF3AB3760}" destId="{1C130D12-28F2-4B96-AF22-7E4BB67BDDA1}" srcOrd="4" destOrd="0" presId="urn:microsoft.com/office/officeart/2005/8/layout/default"/>
    <dgm:cxn modelId="{062AAE26-E7F0-47F9-BC1C-BD400C8BA98F}" type="presParOf" srcId="{410C6ACB-164A-4951-97D7-F8AAF3AB3760}" destId="{B17BFA37-E61C-4B1E-B660-67036EB0C9C9}" srcOrd="5" destOrd="0" presId="urn:microsoft.com/office/officeart/2005/8/layout/default"/>
    <dgm:cxn modelId="{E84E09D3-5A85-44E2-A2AC-1F85E5D1DCD8}" type="presParOf" srcId="{410C6ACB-164A-4951-97D7-F8AAF3AB3760}" destId="{368263CB-7AA7-4498-BB72-462C08E79624}" srcOrd="6" destOrd="0" presId="urn:microsoft.com/office/officeart/2005/8/layout/default"/>
    <dgm:cxn modelId="{2DD5E4FA-3594-4DAD-A83D-2FA95E2FB0D9}" type="presParOf" srcId="{410C6ACB-164A-4951-97D7-F8AAF3AB3760}" destId="{4ADAA5FD-04E2-41FF-A363-74D8077E645A}" srcOrd="7" destOrd="0" presId="urn:microsoft.com/office/officeart/2005/8/layout/default"/>
    <dgm:cxn modelId="{E47EB549-B4CD-4FA8-88E4-71439A12143A}" type="presParOf" srcId="{410C6ACB-164A-4951-97D7-F8AAF3AB3760}" destId="{EB821E35-9710-4B86-974E-F63E862F73C7}" srcOrd="8" destOrd="0" presId="urn:microsoft.com/office/officeart/2005/8/layout/default"/>
    <dgm:cxn modelId="{C8859EF9-7E16-4243-8ED5-36300071C117}" type="presParOf" srcId="{410C6ACB-164A-4951-97D7-F8AAF3AB3760}" destId="{78793E73-CF3F-41D6-8C7C-2268161D76E2}" srcOrd="9" destOrd="0" presId="urn:microsoft.com/office/officeart/2005/8/layout/default"/>
    <dgm:cxn modelId="{1504E963-FB7F-45D2-A1D9-89DC31145D45}" type="presParOf" srcId="{410C6ACB-164A-4951-97D7-F8AAF3AB3760}" destId="{3B692C24-2726-4736-A694-CBF22D432C1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0A384C5-1F43-422C-ADF6-041BCE2CA489}" type="doc">
      <dgm:prSet loTypeId="urn:microsoft.com/office/officeart/2005/8/layout/default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20258818-3827-4498-8EE3-0BF43321FD09}">
      <dgm:prSet phldr="0"/>
      <dgm:spPr/>
      <dgm:t>
        <a:bodyPr/>
        <a:lstStyle/>
        <a:p>
          <a:pPr algn="l" rtl="0"/>
          <a:r>
            <a:rPr lang="en-GB" sz="2000" b="1" dirty="0"/>
            <a:t>Result:</a:t>
          </a:r>
          <a:r>
            <a:rPr lang="en-GB" sz="2000" dirty="0"/>
            <a:t> </a:t>
          </a:r>
          <a:br>
            <a:rPr lang="en-GB" sz="20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000" dirty="0"/>
            <a:t>R² and errors remain almost unchanged.</a:t>
          </a:r>
          <a:endParaRPr lang="en-GB" sz="2000" dirty="0">
            <a:latin typeface="Garamond" panose="02020404030301010803"/>
          </a:endParaRPr>
        </a:p>
      </dgm:t>
    </dgm:pt>
    <dgm:pt modelId="{BD4A357F-429C-4094-9EED-DCE57D04619B}" type="parTrans" cxnId="{317731DF-92E4-469B-A0BE-6B99A745478F}">
      <dgm:prSet/>
      <dgm:spPr/>
    </dgm:pt>
    <dgm:pt modelId="{C9534709-4831-4CE6-8A92-F36E5E623D5C}" type="sibTrans" cxnId="{317731DF-92E4-469B-A0BE-6B99A745478F}">
      <dgm:prSet/>
      <dgm:spPr/>
    </dgm:pt>
    <dgm:pt modelId="{3D58216D-2811-4950-B2EE-573AE426A883}">
      <dgm:prSet phldr="0"/>
      <dgm:spPr/>
      <dgm:t>
        <a:bodyPr/>
        <a:lstStyle/>
        <a:p>
          <a:pPr algn="l" rtl="0"/>
          <a:r>
            <a:rPr lang="en-GB" sz="2000" b="1" dirty="0"/>
            <a:t>Observation: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Coefficients change in scale, not accuracy.</a:t>
          </a:r>
          <a:endParaRPr lang="en-GB" dirty="0"/>
        </a:p>
      </dgm:t>
    </dgm:pt>
    <dgm:pt modelId="{E494FC14-FAEA-4D88-8CCB-3CA19A118F5B}" type="parTrans" cxnId="{AB5DA193-3DA9-4897-983F-612C4613CE7F}">
      <dgm:prSet/>
      <dgm:spPr/>
    </dgm:pt>
    <dgm:pt modelId="{DE9CF263-BD1F-4285-90C2-4CF655D19792}" type="sibTrans" cxnId="{AB5DA193-3DA9-4897-983F-612C4613CE7F}">
      <dgm:prSet/>
      <dgm:spPr/>
    </dgm:pt>
    <dgm:pt modelId="{B20CBFE6-7165-4B36-B0AB-4910EA5C7348}">
      <dgm:prSet phldr="0"/>
      <dgm:spPr/>
      <dgm:t>
        <a:bodyPr/>
        <a:lstStyle/>
        <a:p>
          <a:pPr algn="l" rtl="0"/>
          <a:r>
            <a:rPr lang="en-GB" sz="2000" b="1" dirty="0"/>
            <a:t>Insight:</a:t>
          </a:r>
          <a:r>
            <a:rPr lang="en-GB" sz="2000" dirty="0"/>
            <a:t> </a:t>
          </a:r>
          <a:br>
            <a:rPr lang="en-GB" sz="20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000" dirty="0"/>
            <a:t>Normalization improves interpretability, not performance.</a:t>
          </a:r>
          <a:endParaRPr lang="en-GB" dirty="0"/>
        </a:p>
      </dgm:t>
    </dgm:pt>
    <dgm:pt modelId="{752D0D73-4E4E-467B-AF19-53632D35AAD6}" type="parTrans" cxnId="{12FDDEA4-7D75-4471-9AA0-E03987DB1AE2}">
      <dgm:prSet/>
      <dgm:spPr/>
    </dgm:pt>
    <dgm:pt modelId="{4EB003B4-96AF-4DD9-8462-89B425C811AD}" type="sibTrans" cxnId="{12FDDEA4-7D75-4471-9AA0-E03987DB1AE2}">
      <dgm:prSet/>
      <dgm:spPr/>
    </dgm:pt>
    <dgm:pt modelId="{D3C54809-468B-4F4E-99AF-E7376F5F2926}">
      <dgm:prSet phldr="0"/>
      <dgm:spPr/>
      <dgm:t>
        <a:bodyPr/>
        <a:lstStyle/>
        <a:p>
          <a:pPr algn="l" rtl="0"/>
          <a:r>
            <a:rPr lang="en-GB" sz="2000" b="1" dirty="0"/>
            <a:t>Recommendation:</a:t>
          </a:r>
          <a:r>
            <a:rPr lang="en-GB" sz="2000" dirty="0"/>
            <a:t> </a:t>
          </a:r>
          <a:br>
            <a:rPr lang="en-GB" sz="20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000" dirty="0"/>
            <a:t>Normalize when comparing feature importance.</a:t>
          </a:r>
          <a:endParaRPr lang="en-GB" dirty="0"/>
        </a:p>
      </dgm:t>
    </dgm:pt>
    <dgm:pt modelId="{7F00D8A3-A925-437E-92E9-DFED06BA5E78}" type="parTrans" cxnId="{440A37EC-9C71-4339-9049-EAE8BB59EAE4}">
      <dgm:prSet/>
      <dgm:spPr/>
    </dgm:pt>
    <dgm:pt modelId="{180BD850-4AA1-4452-8B86-7C6C1C1005A5}" type="sibTrans" cxnId="{440A37EC-9C71-4339-9049-EAE8BB59EAE4}">
      <dgm:prSet/>
      <dgm:spPr/>
    </dgm:pt>
    <dgm:pt modelId="{39656812-F5A3-4147-8DF9-0362D16067A6}">
      <dgm:prSet phldr="0"/>
      <dgm:spPr/>
      <dgm:t>
        <a:bodyPr/>
        <a:lstStyle/>
        <a:p>
          <a:pPr algn="l" rtl="0"/>
          <a:r>
            <a:rPr lang="en-GB" sz="2000" b="1" dirty="0"/>
            <a:t>Conclusion: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Use normalization for interpretability, not for accuracy gains.</a:t>
          </a:r>
          <a:endParaRPr lang="en-GB" dirty="0"/>
        </a:p>
      </dgm:t>
    </dgm:pt>
    <dgm:pt modelId="{D4C6E8F2-A4A2-4AA6-A5A3-0C54BA165C87}" type="parTrans" cxnId="{FFE088E2-841D-4F4A-85B9-EE4B08A19B03}">
      <dgm:prSet/>
      <dgm:spPr/>
    </dgm:pt>
    <dgm:pt modelId="{4E7F554E-4F46-4B21-908A-2F89C45638FC}" type="sibTrans" cxnId="{FFE088E2-841D-4F4A-85B9-EE4B08A19B03}">
      <dgm:prSet/>
      <dgm:spPr/>
    </dgm:pt>
    <dgm:pt modelId="{822F7E1A-04E9-44C8-9CA6-E3515451ECD3}">
      <dgm:prSet phldr="0"/>
      <dgm:spPr/>
      <dgm:t>
        <a:bodyPr/>
        <a:lstStyle/>
        <a:p>
          <a:pPr algn="l" rtl="0"/>
          <a:r>
            <a:rPr lang="en-GB" sz="2000" b="1" dirty="0"/>
            <a:t>Key takeaway: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Normalization ensures fair contribution when new features with very different scales are introduced.</a:t>
          </a:r>
          <a:endParaRPr lang="en-GB" dirty="0"/>
        </a:p>
      </dgm:t>
    </dgm:pt>
    <dgm:pt modelId="{79FF5607-127F-444E-B9FC-CCF9EF93FFC0}" type="parTrans" cxnId="{284D9002-BFC4-4EDB-85E8-13056B5817C8}">
      <dgm:prSet/>
      <dgm:spPr/>
    </dgm:pt>
    <dgm:pt modelId="{7E91E579-432D-40E0-8A1C-E08C0C0FC158}" type="sibTrans" cxnId="{284D9002-BFC4-4EDB-85E8-13056B5817C8}">
      <dgm:prSet/>
      <dgm:spPr/>
    </dgm:pt>
    <dgm:pt modelId="{410C6ACB-164A-4951-97D7-F8AAF3AB3760}" type="pres">
      <dgm:prSet presAssocID="{90A384C5-1F43-422C-ADF6-041BCE2CA489}" presName="diagram" presStyleCnt="0">
        <dgm:presLayoutVars>
          <dgm:dir/>
          <dgm:resizeHandles val="exact"/>
        </dgm:presLayoutVars>
      </dgm:prSet>
      <dgm:spPr/>
    </dgm:pt>
    <dgm:pt modelId="{B5996CF8-40D1-437F-8877-3021480B7FA7}" type="pres">
      <dgm:prSet presAssocID="{20258818-3827-4498-8EE3-0BF43321FD09}" presName="node" presStyleLbl="node1" presStyleIdx="0" presStyleCnt="6">
        <dgm:presLayoutVars>
          <dgm:bulletEnabled val="1"/>
        </dgm:presLayoutVars>
      </dgm:prSet>
      <dgm:spPr/>
    </dgm:pt>
    <dgm:pt modelId="{D82C9F45-CB80-4BED-8B8B-16353DF53582}" type="pres">
      <dgm:prSet presAssocID="{C9534709-4831-4CE6-8A92-F36E5E623D5C}" presName="sibTrans" presStyleCnt="0"/>
      <dgm:spPr/>
    </dgm:pt>
    <dgm:pt modelId="{768BC97B-6449-45A9-964C-794DFF40BE3F}" type="pres">
      <dgm:prSet presAssocID="{3D58216D-2811-4950-B2EE-573AE426A883}" presName="node" presStyleLbl="node1" presStyleIdx="1" presStyleCnt="6">
        <dgm:presLayoutVars>
          <dgm:bulletEnabled val="1"/>
        </dgm:presLayoutVars>
      </dgm:prSet>
      <dgm:spPr/>
    </dgm:pt>
    <dgm:pt modelId="{17AAF521-481A-4D16-86E8-E0CE7C253383}" type="pres">
      <dgm:prSet presAssocID="{DE9CF263-BD1F-4285-90C2-4CF655D19792}" presName="sibTrans" presStyleCnt="0"/>
      <dgm:spPr/>
    </dgm:pt>
    <dgm:pt modelId="{94A5299B-24C9-4C22-9E87-B3FA689FBCAE}" type="pres">
      <dgm:prSet presAssocID="{B20CBFE6-7165-4B36-B0AB-4910EA5C7348}" presName="node" presStyleLbl="node1" presStyleIdx="2" presStyleCnt="6">
        <dgm:presLayoutVars>
          <dgm:bulletEnabled val="1"/>
        </dgm:presLayoutVars>
      </dgm:prSet>
      <dgm:spPr/>
    </dgm:pt>
    <dgm:pt modelId="{1ADDB762-5988-4FCF-AB67-0C2CE20ABE78}" type="pres">
      <dgm:prSet presAssocID="{4EB003B4-96AF-4DD9-8462-89B425C811AD}" presName="sibTrans" presStyleCnt="0"/>
      <dgm:spPr/>
    </dgm:pt>
    <dgm:pt modelId="{D7A646FC-41D0-4BFA-BFFE-72D6B30074BD}" type="pres">
      <dgm:prSet presAssocID="{D3C54809-468B-4F4E-99AF-E7376F5F2926}" presName="node" presStyleLbl="node1" presStyleIdx="3" presStyleCnt="6">
        <dgm:presLayoutVars>
          <dgm:bulletEnabled val="1"/>
        </dgm:presLayoutVars>
      </dgm:prSet>
      <dgm:spPr/>
    </dgm:pt>
    <dgm:pt modelId="{7A2F3976-0B69-41F8-92DD-6E1FE6B626DC}" type="pres">
      <dgm:prSet presAssocID="{180BD850-4AA1-4452-8B86-7C6C1C1005A5}" presName="sibTrans" presStyleCnt="0"/>
      <dgm:spPr/>
    </dgm:pt>
    <dgm:pt modelId="{604D2430-31C0-46C7-AA07-A110B5A0DD85}" type="pres">
      <dgm:prSet presAssocID="{39656812-F5A3-4147-8DF9-0362D16067A6}" presName="node" presStyleLbl="node1" presStyleIdx="4" presStyleCnt="6">
        <dgm:presLayoutVars>
          <dgm:bulletEnabled val="1"/>
        </dgm:presLayoutVars>
      </dgm:prSet>
      <dgm:spPr/>
    </dgm:pt>
    <dgm:pt modelId="{8DADF791-5038-4065-8DA3-C97C335BC50D}" type="pres">
      <dgm:prSet presAssocID="{4E7F554E-4F46-4B21-908A-2F89C45638FC}" presName="sibTrans" presStyleCnt="0"/>
      <dgm:spPr/>
    </dgm:pt>
    <dgm:pt modelId="{05944E46-FE1B-47B9-AA03-30F61FCF13F5}" type="pres">
      <dgm:prSet presAssocID="{822F7E1A-04E9-44C8-9CA6-E3515451ECD3}" presName="node" presStyleLbl="node1" presStyleIdx="5" presStyleCnt="6">
        <dgm:presLayoutVars>
          <dgm:bulletEnabled val="1"/>
        </dgm:presLayoutVars>
      </dgm:prSet>
      <dgm:spPr/>
    </dgm:pt>
  </dgm:ptLst>
  <dgm:cxnLst>
    <dgm:cxn modelId="{284D9002-BFC4-4EDB-85E8-13056B5817C8}" srcId="{90A384C5-1F43-422C-ADF6-041BCE2CA489}" destId="{822F7E1A-04E9-44C8-9CA6-E3515451ECD3}" srcOrd="5" destOrd="0" parTransId="{79FF5607-127F-444E-B9FC-CCF9EF93FFC0}" sibTransId="{7E91E579-432D-40E0-8A1C-E08C0C0FC158}"/>
    <dgm:cxn modelId="{1AFE9A72-C57B-4DEB-8144-8B4A03B39E3A}" type="presOf" srcId="{90A384C5-1F43-422C-ADF6-041BCE2CA489}" destId="{410C6ACB-164A-4951-97D7-F8AAF3AB3760}" srcOrd="0" destOrd="0" presId="urn:microsoft.com/office/officeart/2005/8/layout/default"/>
    <dgm:cxn modelId="{67372956-CCC7-42C7-B847-B555434103C7}" type="presOf" srcId="{39656812-F5A3-4147-8DF9-0362D16067A6}" destId="{604D2430-31C0-46C7-AA07-A110B5A0DD85}" srcOrd="0" destOrd="0" presId="urn:microsoft.com/office/officeart/2005/8/layout/default"/>
    <dgm:cxn modelId="{ABCAE080-E9A6-4BDA-9BC7-5558F587806E}" type="presOf" srcId="{B20CBFE6-7165-4B36-B0AB-4910EA5C7348}" destId="{94A5299B-24C9-4C22-9E87-B3FA689FBCAE}" srcOrd="0" destOrd="0" presId="urn:microsoft.com/office/officeart/2005/8/layout/default"/>
    <dgm:cxn modelId="{F8830D84-BDB4-4A33-8E33-15D4C1C792CF}" type="presOf" srcId="{822F7E1A-04E9-44C8-9CA6-E3515451ECD3}" destId="{05944E46-FE1B-47B9-AA03-30F61FCF13F5}" srcOrd="0" destOrd="0" presId="urn:microsoft.com/office/officeart/2005/8/layout/default"/>
    <dgm:cxn modelId="{AB5DA193-3DA9-4897-983F-612C4613CE7F}" srcId="{90A384C5-1F43-422C-ADF6-041BCE2CA489}" destId="{3D58216D-2811-4950-B2EE-573AE426A883}" srcOrd="1" destOrd="0" parTransId="{E494FC14-FAEA-4D88-8CCB-3CA19A118F5B}" sibTransId="{DE9CF263-BD1F-4285-90C2-4CF655D19792}"/>
    <dgm:cxn modelId="{12FDDEA4-7D75-4471-9AA0-E03987DB1AE2}" srcId="{90A384C5-1F43-422C-ADF6-041BCE2CA489}" destId="{B20CBFE6-7165-4B36-B0AB-4910EA5C7348}" srcOrd="2" destOrd="0" parTransId="{752D0D73-4E4E-467B-AF19-53632D35AAD6}" sibTransId="{4EB003B4-96AF-4DD9-8462-89B425C811AD}"/>
    <dgm:cxn modelId="{D4BDA4BE-C001-4E1E-8AA0-5BADB20A6147}" type="presOf" srcId="{20258818-3827-4498-8EE3-0BF43321FD09}" destId="{B5996CF8-40D1-437F-8877-3021480B7FA7}" srcOrd="0" destOrd="0" presId="urn:microsoft.com/office/officeart/2005/8/layout/default"/>
    <dgm:cxn modelId="{317731DF-92E4-469B-A0BE-6B99A745478F}" srcId="{90A384C5-1F43-422C-ADF6-041BCE2CA489}" destId="{20258818-3827-4498-8EE3-0BF43321FD09}" srcOrd="0" destOrd="0" parTransId="{BD4A357F-429C-4094-9EED-DCE57D04619B}" sibTransId="{C9534709-4831-4CE6-8A92-F36E5E623D5C}"/>
    <dgm:cxn modelId="{FFE088E2-841D-4F4A-85B9-EE4B08A19B03}" srcId="{90A384C5-1F43-422C-ADF6-041BCE2CA489}" destId="{39656812-F5A3-4147-8DF9-0362D16067A6}" srcOrd="4" destOrd="0" parTransId="{D4C6E8F2-A4A2-4AA6-A5A3-0C54BA165C87}" sibTransId="{4E7F554E-4F46-4B21-908A-2F89C45638FC}"/>
    <dgm:cxn modelId="{7723E4E7-635A-4500-8477-25868DC62ECA}" type="presOf" srcId="{D3C54809-468B-4F4E-99AF-E7376F5F2926}" destId="{D7A646FC-41D0-4BFA-BFFE-72D6B30074BD}" srcOrd="0" destOrd="0" presId="urn:microsoft.com/office/officeart/2005/8/layout/default"/>
    <dgm:cxn modelId="{FEA906E9-5BDC-4A93-8A50-02274447DED9}" type="presOf" srcId="{3D58216D-2811-4950-B2EE-573AE426A883}" destId="{768BC97B-6449-45A9-964C-794DFF40BE3F}" srcOrd="0" destOrd="0" presId="urn:microsoft.com/office/officeart/2005/8/layout/default"/>
    <dgm:cxn modelId="{440A37EC-9C71-4339-9049-EAE8BB59EAE4}" srcId="{90A384C5-1F43-422C-ADF6-041BCE2CA489}" destId="{D3C54809-468B-4F4E-99AF-E7376F5F2926}" srcOrd="3" destOrd="0" parTransId="{7F00D8A3-A925-437E-92E9-DFED06BA5E78}" sibTransId="{180BD850-4AA1-4452-8B86-7C6C1C1005A5}"/>
    <dgm:cxn modelId="{C1712B5A-7084-4448-BA37-10CAA2ADF311}" type="presParOf" srcId="{410C6ACB-164A-4951-97D7-F8AAF3AB3760}" destId="{B5996CF8-40D1-437F-8877-3021480B7FA7}" srcOrd="0" destOrd="0" presId="urn:microsoft.com/office/officeart/2005/8/layout/default"/>
    <dgm:cxn modelId="{1D135EF4-109A-4952-940D-DDCD0B18C64A}" type="presParOf" srcId="{410C6ACB-164A-4951-97D7-F8AAF3AB3760}" destId="{D82C9F45-CB80-4BED-8B8B-16353DF53582}" srcOrd="1" destOrd="0" presId="urn:microsoft.com/office/officeart/2005/8/layout/default"/>
    <dgm:cxn modelId="{6DE7BBC3-76DD-4AF6-B1DD-CF93678C9CA8}" type="presParOf" srcId="{410C6ACB-164A-4951-97D7-F8AAF3AB3760}" destId="{768BC97B-6449-45A9-964C-794DFF40BE3F}" srcOrd="2" destOrd="0" presId="urn:microsoft.com/office/officeart/2005/8/layout/default"/>
    <dgm:cxn modelId="{A1CCCC2C-A74D-4065-A5E8-E819CDA2A2B4}" type="presParOf" srcId="{410C6ACB-164A-4951-97D7-F8AAF3AB3760}" destId="{17AAF521-481A-4D16-86E8-E0CE7C253383}" srcOrd="3" destOrd="0" presId="urn:microsoft.com/office/officeart/2005/8/layout/default"/>
    <dgm:cxn modelId="{1107A232-1B87-4733-9409-5CB8710E384D}" type="presParOf" srcId="{410C6ACB-164A-4951-97D7-F8AAF3AB3760}" destId="{94A5299B-24C9-4C22-9E87-B3FA689FBCAE}" srcOrd="4" destOrd="0" presId="urn:microsoft.com/office/officeart/2005/8/layout/default"/>
    <dgm:cxn modelId="{EDA4A8ED-2618-41C6-A5D4-A80AC0A1FB51}" type="presParOf" srcId="{410C6ACB-164A-4951-97D7-F8AAF3AB3760}" destId="{1ADDB762-5988-4FCF-AB67-0C2CE20ABE78}" srcOrd="5" destOrd="0" presId="urn:microsoft.com/office/officeart/2005/8/layout/default"/>
    <dgm:cxn modelId="{AAE1D0A7-D516-4765-BC51-CA1C19F3CCB9}" type="presParOf" srcId="{410C6ACB-164A-4951-97D7-F8AAF3AB3760}" destId="{D7A646FC-41D0-4BFA-BFFE-72D6B30074BD}" srcOrd="6" destOrd="0" presId="urn:microsoft.com/office/officeart/2005/8/layout/default"/>
    <dgm:cxn modelId="{49C9F89E-D89B-40EA-8B0B-77029C0851D9}" type="presParOf" srcId="{410C6ACB-164A-4951-97D7-F8AAF3AB3760}" destId="{7A2F3976-0B69-41F8-92DD-6E1FE6B626DC}" srcOrd="7" destOrd="0" presId="urn:microsoft.com/office/officeart/2005/8/layout/default"/>
    <dgm:cxn modelId="{4AF06FCB-B70F-4B49-8F52-E6D8FB35DED7}" type="presParOf" srcId="{410C6ACB-164A-4951-97D7-F8AAF3AB3760}" destId="{604D2430-31C0-46C7-AA07-A110B5A0DD85}" srcOrd="8" destOrd="0" presId="urn:microsoft.com/office/officeart/2005/8/layout/default"/>
    <dgm:cxn modelId="{2448CDB4-F29A-4CA3-95A2-0ADF42128944}" type="presParOf" srcId="{410C6ACB-164A-4951-97D7-F8AAF3AB3760}" destId="{8DADF791-5038-4065-8DA3-C97C335BC50D}" srcOrd="9" destOrd="0" presId="urn:microsoft.com/office/officeart/2005/8/layout/default"/>
    <dgm:cxn modelId="{FDEB7699-0E3A-4948-AB69-C37CF74E904A}" type="presParOf" srcId="{410C6ACB-164A-4951-97D7-F8AAF3AB3760}" destId="{05944E46-FE1B-47B9-AA03-30F61FCF13F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0A384C5-1F43-422C-ADF6-041BCE2CA489}" type="doc">
      <dgm:prSet loTypeId="urn:microsoft.com/office/officeart/2005/8/layout/default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50623312-B086-4023-8735-DEF606BB7E12}">
      <dgm:prSet phldr="0"/>
      <dgm:spPr/>
      <dgm:t>
        <a:bodyPr/>
        <a:lstStyle/>
        <a:p>
          <a:pPr algn="l" rtl="0"/>
          <a:r>
            <a:rPr lang="en-GB" sz="2000" b="1" dirty="0"/>
            <a:t>Result: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Predictions deviate significantly from actual sales.</a:t>
          </a:r>
          <a:endParaRPr lang="en-GB" sz="2000" dirty="0">
            <a:latin typeface="Garamond" panose="02020404030301010803"/>
          </a:endParaRPr>
        </a:p>
      </dgm:t>
    </dgm:pt>
    <dgm:pt modelId="{10AF42CC-31C1-42DD-A27E-A8DA9B747B2E}" type="parTrans" cxnId="{A06CCF9C-8AAA-4889-A151-902A2692DC01}">
      <dgm:prSet/>
      <dgm:spPr/>
    </dgm:pt>
    <dgm:pt modelId="{C883D129-E3B0-4E75-AF54-24BA9BD6CF0A}" type="sibTrans" cxnId="{A06CCF9C-8AAA-4889-A151-902A2692DC01}">
      <dgm:prSet/>
      <dgm:spPr/>
    </dgm:pt>
    <dgm:pt modelId="{658AA5FC-58DA-411F-A0A0-03C35908341F}">
      <dgm:prSet phldr="0"/>
      <dgm:spPr/>
      <dgm:t>
        <a:bodyPr/>
        <a:lstStyle/>
        <a:p>
          <a:pPr algn="l" rtl="0"/>
          <a:r>
            <a:rPr lang="en-GB" sz="2000" b="1" dirty="0"/>
            <a:t>Observation: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Model performs poorly without TV.</a:t>
          </a:r>
          <a:endParaRPr lang="en-GB" dirty="0"/>
        </a:p>
      </dgm:t>
    </dgm:pt>
    <dgm:pt modelId="{CC911BBF-7B02-4AB0-9DAE-890E49B20210}" type="parTrans" cxnId="{3091FB87-63FE-4B18-8329-2BFDC8B32959}">
      <dgm:prSet/>
      <dgm:spPr/>
    </dgm:pt>
    <dgm:pt modelId="{05F01CC9-F4CF-4E60-9408-4C06F887A061}" type="sibTrans" cxnId="{3091FB87-63FE-4B18-8329-2BFDC8B32959}">
      <dgm:prSet/>
      <dgm:spPr/>
    </dgm:pt>
    <dgm:pt modelId="{D0E6C321-6FAF-44B5-814B-D3AFB788F37F}">
      <dgm:prSet phldr="0"/>
      <dgm:spPr/>
      <dgm:t>
        <a:bodyPr/>
        <a:lstStyle/>
        <a:p>
          <a:pPr algn="l" rtl="0"/>
          <a:r>
            <a:rPr lang="en-GB" sz="2000" b="1" dirty="0"/>
            <a:t>Insight: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Radio contributes somewhat, Newspaper almost none.</a:t>
          </a:r>
          <a:endParaRPr lang="en-GB" dirty="0"/>
        </a:p>
      </dgm:t>
    </dgm:pt>
    <dgm:pt modelId="{282D33DA-BEE9-439B-842A-19D44D445076}" type="parTrans" cxnId="{8B71AE56-8DD4-4476-B4F9-33A9D1B530D6}">
      <dgm:prSet/>
      <dgm:spPr/>
    </dgm:pt>
    <dgm:pt modelId="{E22F4240-AA94-4A7E-A923-AE85023C273B}" type="sibTrans" cxnId="{8B71AE56-8DD4-4476-B4F9-33A9D1B530D6}">
      <dgm:prSet/>
      <dgm:spPr/>
    </dgm:pt>
    <dgm:pt modelId="{6D8836A6-6890-4D3D-8ACE-74E39229030F}">
      <dgm:prSet phldr="0"/>
      <dgm:spPr/>
      <dgm:t>
        <a:bodyPr/>
        <a:lstStyle/>
        <a:p>
          <a:pPr algn="l" rtl="0"/>
          <a:r>
            <a:rPr lang="en-GB" sz="2000" b="1" dirty="0"/>
            <a:t>Recommendation: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Do not rely on Radio + Newspaper alone for predictions.</a:t>
          </a:r>
          <a:endParaRPr lang="en-GB" dirty="0"/>
        </a:p>
      </dgm:t>
    </dgm:pt>
    <dgm:pt modelId="{0A8A35D1-13E0-4D0F-94E9-217020484751}" type="parTrans" cxnId="{CDEFB4AF-AA84-4539-941E-FD91A51D4CCE}">
      <dgm:prSet/>
      <dgm:spPr/>
    </dgm:pt>
    <dgm:pt modelId="{A7352484-B5C3-44A7-A5B5-583982C25549}" type="sibTrans" cxnId="{CDEFB4AF-AA84-4539-941E-FD91A51D4CCE}">
      <dgm:prSet/>
      <dgm:spPr/>
    </dgm:pt>
    <dgm:pt modelId="{71BE5C04-879D-46C3-A453-9392FA8454C7}">
      <dgm:prSet phldr="0"/>
      <dgm:spPr/>
      <dgm:t>
        <a:bodyPr/>
        <a:lstStyle/>
        <a:p>
          <a:pPr algn="l" rtl="0"/>
          <a:r>
            <a:rPr lang="en-GB" sz="2000" b="1" dirty="0"/>
            <a:t>Conclusion: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TV is essential for accurate sales forecasting.</a:t>
          </a:r>
          <a:endParaRPr lang="en-GB" dirty="0"/>
        </a:p>
      </dgm:t>
    </dgm:pt>
    <dgm:pt modelId="{D0AE2538-601E-4B04-95E3-9491DD5E279F}" type="parTrans" cxnId="{891E5FB2-9217-48E9-8FD5-4D9928DFE629}">
      <dgm:prSet/>
      <dgm:spPr/>
    </dgm:pt>
    <dgm:pt modelId="{5DF80686-9242-4741-BF37-5EA521DAB08B}" type="sibTrans" cxnId="{891E5FB2-9217-48E9-8FD5-4D9928DFE629}">
      <dgm:prSet/>
      <dgm:spPr/>
    </dgm:pt>
    <dgm:pt modelId="{996830AD-6ECA-4761-8D04-84CB27B9A4A0}">
      <dgm:prSet phldr="0"/>
      <dgm:spPr/>
      <dgm:t>
        <a:bodyPr/>
        <a:lstStyle/>
        <a:p>
          <a:pPr algn="l" rtl="0"/>
          <a:r>
            <a:rPr lang="en-GB" sz="2000" b="1" dirty="0"/>
            <a:t>Key takeaway:</a:t>
          </a:r>
          <a:r>
            <a:rPr lang="en-GB" sz="2000" dirty="0"/>
            <a:t> </a:t>
          </a:r>
          <a:br>
            <a:rPr lang="en-GB" sz="2000" dirty="0">
              <a:latin typeface="Garamond" panose="02020404030301010803"/>
            </a:rPr>
          </a:br>
          <a:r>
            <a:rPr lang="en-GB" sz="2000" dirty="0"/>
            <a:t>The exclusion of TV demonstrates its critical role as the dominant driver of sales.</a:t>
          </a:r>
          <a:endParaRPr lang="en-GB" dirty="0"/>
        </a:p>
      </dgm:t>
    </dgm:pt>
    <dgm:pt modelId="{D0BBB822-84D3-4113-B5E8-EA7D512F8DCB}" type="parTrans" cxnId="{5121D0AF-5F1D-4607-B859-C81049087326}">
      <dgm:prSet/>
      <dgm:spPr/>
    </dgm:pt>
    <dgm:pt modelId="{D773F634-E1C4-4490-95F8-0A426700A728}" type="sibTrans" cxnId="{5121D0AF-5F1D-4607-B859-C81049087326}">
      <dgm:prSet/>
      <dgm:spPr/>
    </dgm:pt>
    <dgm:pt modelId="{410C6ACB-164A-4951-97D7-F8AAF3AB3760}" type="pres">
      <dgm:prSet presAssocID="{90A384C5-1F43-422C-ADF6-041BCE2CA489}" presName="diagram" presStyleCnt="0">
        <dgm:presLayoutVars>
          <dgm:dir/>
          <dgm:resizeHandles val="exact"/>
        </dgm:presLayoutVars>
      </dgm:prSet>
      <dgm:spPr/>
    </dgm:pt>
    <dgm:pt modelId="{CD1DCAAE-594A-4F9D-9472-D768391734E5}" type="pres">
      <dgm:prSet presAssocID="{50623312-B086-4023-8735-DEF606BB7E12}" presName="node" presStyleLbl="node1" presStyleIdx="0" presStyleCnt="6">
        <dgm:presLayoutVars>
          <dgm:bulletEnabled val="1"/>
        </dgm:presLayoutVars>
      </dgm:prSet>
      <dgm:spPr/>
    </dgm:pt>
    <dgm:pt modelId="{6A07F191-254A-4238-8FCD-831034C3BCAE}" type="pres">
      <dgm:prSet presAssocID="{C883D129-E3B0-4E75-AF54-24BA9BD6CF0A}" presName="sibTrans" presStyleCnt="0"/>
      <dgm:spPr/>
    </dgm:pt>
    <dgm:pt modelId="{E59F27F5-DA7F-4535-BAE4-E8A765571AF8}" type="pres">
      <dgm:prSet presAssocID="{658AA5FC-58DA-411F-A0A0-03C35908341F}" presName="node" presStyleLbl="node1" presStyleIdx="1" presStyleCnt="6">
        <dgm:presLayoutVars>
          <dgm:bulletEnabled val="1"/>
        </dgm:presLayoutVars>
      </dgm:prSet>
      <dgm:spPr/>
    </dgm:pt>
    <dgm:pt modelId="{21C41C46-55E1-4E6E-A10C-9DE0A6F3CC56}" type="pres">
      <dgm:prSet presAssocID="{05F01CC9-F4CF-4E60-9408-4C06F887A061}" presName="sibTrans" presStyleCnt="0"/>
      <dgm:spPr/>
    </dgm:pt>
    <dgm:pt modelId="{F2F490CC-0CC6-4170-999D-81AA900CA8A3}" type="pres">
      <dgm:prSet presAssocID="{D0E6C321-6FAF-44B5-814B-D3AFB788F37F}" presName="node" presStyleLbl="node1" presStyleIdx="2" presStyleCnt="6">
        <dgm:presLayoutVars>
          <dgm:bulletEnabled val="1"/>
        </dgm:presLayoutVars>
      </dgm:prSet>
      <dgm:spPr/>
    </dgm:pt>
    <dgm:pt modelId="{C611448A-EF5D-401E-B2F3-C827CD78F40C}" type="pres">
      <dgm:prSet presAssocID="{E22F4240-AA94-4A7E-A923-AE85023C273B}" presName="sibTrans" presStyleCnt="0"/>
      <dgm:spPr/>
    </dgm:pt>
    <dgm:pt modelId="{AD375258-3969-4445-937D-570562410918}" type="pres">
      <dgm:prSet presAssocID="{6D8836A6-6890-4D3D-8ACE-74E39229030F}" presName="node" presStyleLbl="node1" presStyleIdx="3" presStyleCnt="6">
        <dgm:presLayoutVars>
          <dgm:bulletEnabled val="1"/>
        </dgm:presLayoutVars>
      </dgm:prSet>
      <dgm:spPr/>
    </dgm:pt>
    <dgm:pt modelId="{7FE49CA6-5AE8-4DAB-A4CD-A5D0EB0FA937}" type="pres">
      <dgm:prSet presAssocID="{A7352484-B5C3-44A7-A5B5-583982C25549}" presName="sibTrans" presStyleCnt="0"/>
      <dgm:spPr/>
    </dgm:pt>
    <dgm:pt modelId="{6CCE8682-DDB1-4082-A96C-B770DC416C67}" type="pres">
      <dgm:prSet presAssocID="{71BE5C04-879D-46C3-A453-9392FA8454C7}" presName="node" presStyleLbl="node1" presStyleIdx="4" presStyleCnt="6">
        <dgm:presLayoutVars>
          <dgm:bulletEnabled val="1"/>
        </dgm:presLayoutVars>
      </dgm:prSet>
      <dgm:spPr/>
    </dgm:pt>
    <dgm:pt modelId="{583DAA72-13D4-499B-A4FA-321531645B9C}" type="pres">
      <dgm:prSet presAssocID="{5DF80686-9242-4741-BF37-5EA521DAB08B}" presName="sibTrans" presStyleCnt="0"/>
      <dgm:spPr/>
    </dgm:pt>
    <dgm:pt modelId="{CC117C07-5464-4A7A-B31F-9730FA3734D6}" type="pres">
      <dgm:prSet presAssocID="{996830AD-6ECA-4761-8D04-84CB27B9A4A0}" presName="node" presStyleLbl="node1" presStyleIdx="5" presStyleCnt="6">
        <dgm:presLayoutVars>
          <dgm:bulletEnabled val="1"/>
        </dgm:presLayoutVars>
      </dgm:prSet>
      <dgm:spPr/>
    </dgm:pt>
  </dgm:ptLst>
  <dgm:cxnLst>
    <dgm:cxn modelId="{8B854A50-2B4D-413E-BAAB-5E97FFC8780D}" type="presOf" srcId="{71BE5C04-879D-46C3-A453-9392FA8454C7}" destId="{6CCE8682-DDB1-4082-A96C-B770DC416C67}" srcOrd="0" destOrd="0" presId="urn:microsoft.com/office/officeart/2005/8/layout/default"/>
    <dgm:cxn modelId="{1C051252-24D4-43AE-B3EB-2FE53417721F}" type="presOf" srcId="{D0E6C321-6FAF-44B5-814B-D3AFB788F37F}" destId="{F2F490CC-0CC6-4170-999D-81AA900CA8A3}" srcOrd="0" destOrd="0" presId="urn:microsoft.com/office/officeart/2005/8/layout/default"/>
    <dgm:cxn modelId="{1AFE9A72-C57B-4DEB-8144-8B4A03B39E3A}" type="presOf" srcId="{90A384C5-1F43-422C-ADF6-041BCE2CA489}" destId="{410C6ACB-164A-4951-97D7-F8AAF3AB3760}" srcOrd="0" destOrd="0" presId="urn:microsoft.com/office/officeart/2005/8/layout/default"/>
    <dgm:cxn modelId="{8B71AE56-8DD4-4476-B4F9-33A9D1B530D6}" srcId="{90A384C5-1F43-422C-ADF6-041BCE2CA489}" destId="{D0E6C321-6FAF-44B5-814B-D3AFB788F37F}" srcOrd="2" destOrd="0" parTransId="{282D33DA-BEE9-439B-842A-19D44D445076}" sibTransId="{E22F4240-AA94-4A7E-A923-AE85023C273B}"/>
    <dgm:cxn modelId="{8FAB217C-C6DF-4177-8FDA-CB8DC20534E7}" type="presOf" srcId="{996830AD-6ECA-4761-8D04-84CB27B9A4A0}" destId="{CC117C07-5464-4A7A-B31F-9730FA3734D6}" srcOrd="0" destOrd="0" presId="urn:microsoft.com/office/officeart/2005/8/layout/default"/>
    <dgm:cxn modelId="{3091FB87-63FE-4B18-8329-2BFDC8B32959}" srcId="{90A384C5-1F43-422C-ADF6-041BCE2CA489}" destId="{658AA5FC-58DA-411F-A0A0-03C35908341F}" srcOrd="1" destOrd="0" parTransId="{CC911BBF-7B02-4AB0-9DAE-890E49B20210}" sibTransId="{05F01CC9-F4CF-4E60-9408-4C06F887A061}"/>
    <dgm:cxn modelId="{512DB09B-FCAA-4C8C-A74F-DDB90F9E55C2}" type="presOf" srcId="{6D8836A6-6890-4D3D-8ACE-74E39229030F}" destId="{AD375258-3969-4445-937D-570562410918}" srcOrd="0" destOrd="0" presId="urn:microsoft.com/office/officeart/2005/8/layout/default"/>
    <dgm:cxn modelId="{A06CCF9C-8AAA-4889-A151-902A2692DC01}" srcId="{90A384C5-1F43-422C-ADF6-041BCE2CA489}" destId="{50623312-B086-4023-8735-DEF606BB7E12}" srcOrd="0" destOrd="0" parTransId="{10AF42CC-31C1-42DD-A27E-A8DA9B747B2E}" sibTransId="{C883D129-E3B0-4E75-AF54-24BA9BD6CF0A}"/>
    <dgm:cxn modelId="{CDEFB4AF-AA84-4539-941E-FD91A51D4CCE}" srcId="{90A384C5-1F43-422C-ADF6-041BCE2CA489}" destId="{6D8836A6-6890-4D3D-8ACE-74E39229030F}" srcOrd="3" destOrd="0" parTransId="{0A8A35D1-13E0-4D0F-94E9-217020484751}" sibTransId="{A7352484-B5C3-44A7-A5B5-583982C25549}"/>
    <dgm:cxn modelId="{5121D0AF-5F1D-4607-B859-C81049087326}" srcId="{90A384C5-1F43-422C-ADF6-041BCE2CA489}" destId="{996830AD-6ECA-4761-8D04-84CB27B9A4A0}" srcOrd="5" destOrd="0" parTransId="{D0BBB822-84D3-4113-B5E8-EA7D512F8DCB}" sibTransId="{D773F634-E1C4-4490-95F8-0A426700A728}"/>
    <dgm:cxn modelId="{891E5FB2-9217-48E9-8FD5-4D9928DFE629}" srcId="{90A384C5-1F43-422C-ADF6-041BCE2CA489}" destId="{71BE5C04-879D-46C3-A453-9392FA8454C7}" srcOrd="4" destOrd="0" parTransId="{D0AE2538-601E-4B04-95E3-9491DD5E279F}" sibTransId="{5DF80686-9242-4741-BF37-5EA521DAB08B}"/>
    <dgm:cxn modelId="{3660DEB5-7E3D-4255-B3A6-D517ACDDB1A1}" type="presOf" srcId="{50623312-B086-4023-8735-DEF606BB7E12}" destId="{CD1DCAAE-594A-4F9D-9472-D768391734E5}" srcOrd="0" destOrd="0" presId="urn:microsoft.com/office/officeart/2005/8/layout/default"/>
    <dgm:cxn modelId="{369239C1-9A46-4C2B-AFB0-461D677D35CD}" type="presOf" srcId="{658AA5FC-58DA-411F-A0A0-03C35908341F}" destId="{E59F27F5-DA7F-4535-BAE4-E8A765571AF8}" srcOrd="0" destOrd="0" presId="urn:microsoft.com/office/officeart/2005/8/layout/default"/>
    <dgm:cxn modelId="{400DC0E5-0C5D-46D3-B807-8ED57A649953}" type="presParOf" srcId="{410C6ACB-164A-4951-97D7-F8AAF3AB3760}" destId="{CD1DCAAE-594A-4F9D-9472-D768391734E5}" srcOrd="0" destOrd="0" presId="urn:microsoft.com/office/officeart/2005/8/layout/default"/>
    <dgm:cxn modelId="{853999B7-085F-41C9-936A-7E8DC3295815}" type="presParOf" srcId="{410C6ACB-164A-4951-97D7-F8AAF3AB3760}" destId="{6A07F191-254A-4238-8FCD-831034C3BCAE}" srcOrd="1" destOrd="0" presId="urn:microsoft.com/office/officeart/2005/8/layout/default"/>
    <dgm:cxn modelId="{7165F876-4918-4841-8C12-C13415200681}" type="presParOf" srcId="{410C6ACB-164A-4951-97D7-F8AAF3AB3760}" destId="{E59F27F5-DA7F-4535-BAE4-E8A765571AF8}" srcOrd="2" destOrd="0" presId="urn:microsoft.com/office/officeart/2005/8/layout/default"/>
    <dgm:cxn modelId="{E78BACF1-2DBC-4B06-B162-9B4AD83E05A5}" type="presParOf" srcId="{410C6ACB-164A-4951-97D7-F8AAF3AB3760}" destId="{21C41C46-55E1-4E6E-A10C-9DE0A6F3CC56}" srcOrd="3" destOrd="0" presId="urn:microsoft.com/office/officeart/2005/8/layout/default"/>
    <dgm:cxn modelId="{D32DD82D-FC5C-4B7F-B26E-E1F7AA08D6D6}" type="presParOf" srcId="{410C6ACB-164A-4951-97D7-F8AAF3AB3760}" destId="{F2F490CC-0CC6-4170-999D-81AA900CA8A3}" srcOrd="4" destOrd="0" presId="urn:microsoft.com/office/officeart/2005/8/layout/default"/>
    <dgm:cxn modelId="{E8466702-7C22-42DF-924A-B50E1AF1AC74}" type="presParOf" srcId="{410C6ACB-164A-4951-97D7-F8AAF3AB3760}" destId="{C611448A-EF5D-401E-B2F3-C827CD78F40C}" srcOrd="5" destOrd="0" presId="urn:microsoft.com/office/officeart/2005/8/layout/default"/>
    <dgm:cxn modelId="{A460ABFC-F598-4E2D-A57C-285797DCF195}" type="presParOf" srcId="{410C6ACB-164A-4951-97D7-F8AAF3AB3760}" destId="{AD375258-3969-4445-937D-570562410918}" srcOrd="6" destOrd="0" presId="urn:microsoft.com/office/officeart/2005/8/layout/default"/>
    <dgm:cxn modelId="{68E39F13-E0C8-406B-A063-FFE3912523F1}" type="presParOf" srcId="{410C6ACB-164A-4951-97D7-F8AAF3AB3760}" destId="{7FE49CA6-5AE8-4DAB-A4CD-A5D0EB0FA937}" srcOrd="7" destOrd="0" presId="urn:microsoft.com/office/officeart/2005/8/layout/default"/>
    <dgm:cxn modelId="{B8CEBCA0-4BF7-4E14-8386-3482B1D3F7C5}" type="presParOf" srcId="{410C6ACB-164A-4951-97D7-F8AAF3AB3760}" destId="{6CCE8682-DDB1-4082-A96C-B770DC416C67}" srcOrd="8" destOrd="0" presId="urn:microsoft.com/office/officeart/2005/8/layout/default"/>
    <dgm:cxn modelId="{FCBBFCC1-D5FD-46E0-9BEF-D8940AD518D2}" type="presParOf" srcId="{410C6ACB-164A-4951-97D7-F8AAF3AB3760}" destId="{583DAA72-13D4-499B-A4FA-321531645B9C}" srcOrd="9" destOrd="0" presId="urn:microsoft.com/office/officeart/2005/8/layout/default"/>
    <dgm:cxn modelId="{7EE57D9D-575C-468E-A8C1-6A0604B8C5E1}" type="presParOf" srcId="{410C6ACB-164A-4951-97D7-F8AAF3AB3760}" destId="{CC117C07-5464-4A7A-B31F-9730FA3734D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1B1DD-D517-4B8F-9335-27CB87F9BD32}">
      <dsp:nvSpPr>
        <dsp:cNvPr id="0" name=""/>
        <dsp:cNvSpPr/>
      </dsp:nvSpPr>
      <dsp:spPr>
        <a:xfrm>
          <a:off x="0" y="344023"/>
          <a:ext cx="6463526" cy="631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solidFill>
                <a:srgbClr val="212121"/>
              </a:solidFill>
              <a:ea typeface="+mn-ea"/>
              <a:cs typeface="+mn-cs"/>
            </a:rPr>
            <a:t>To examine the impact of different advertising channels (TV, Radio, and Newspaper) on product sales using regression analysis.</a:t>
          </a:r>
          <a:endParaRPr lang="en-US" sz="1500" b="0" kern="1200" dirty="0">
            <a:solidFill>
              <a:srgbClr val="212121"/>
            </a:solidFill>
            <a:latin typeface="Aptos Display"/>
            <a:ea typeface="+mn-ea"/>
            <a:cs typeface="+mn-cs"/>
          </a:endParaRPr>
        </a:p>
      </dsp:txBody>
      <dsp:txXfrm>
        <a:off x="30842" y="374865"/>
        <a:ext cx="6401842" cy="570116"/>
      </dsp:txXfrm>
    </dsp:sp>
    <dsp:sp modelId="{622DB00B-A857-463A-9C4F-2A8C3B95F47E}">
      <dsp:nvSpPr>
        <dsp:cNvPr id="0" name=""/>
        <dsp:cNvSpPr/>
      </dsp:nvSpPr>
      <dsp:spPr>
        <a:xfrm>
          <a:off x="0" y="1019023"/>
          <a:ext cx="6463526" cy="631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solidFill>
                <a:srgbClr val="212121"/>
              </a:solidFill>
              <a:ea typeface="+mn-ea"/>
              <a:cs typeface="+mn-cs"/>
            </a:rPr>
            <a:t>To determine which medium contributes most significantly to sales and should be prioritized in budget allocation.</a:t>
          </a:r>
          <a:endParaRPr lang="en-US" sz="1500" kern="1200" dirty="0">
            <a:solidFill>
              <a:srgbClr val="212121"/>
            </a:solidFill>
            <a:ea typeface="+mn-ea"/>
            <a:cs typeface="+mn-cs"/>
          </a:endParaRPr>
        </a:p>
      </dsp:txBody>
      <dsp:txXfrm>
        <a:off x="30842" y="1049865"/>
        <a:ext cx="6401842" cy="570116"/>
      </dsp:txXfrm>
    </dsp:sp>
    <dsp:sp modelId="{3794E23C-DC3E-4CA2-95FE-37E89D6C9CDB}">
      <dsp:nvSpPr>
        <dsp:cNvPr id="0" name=""/>
        <dsp:cNvSpPr/>
      </dsp:nvSpPr>
      <dsp:spPr>
        <a:xfrm>
          <a:off x="0" y="1694023"/>
          <a:ext cx="6463526" cy="631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solidFill>
                <a:srgbClr val="212121"/>
              </a:solidFill>
              <a:ea typeface="+mn-ea"/>
              <a:cs typeface="+mn-cs"/>
            </a:rPr>
            <a:t>To evaluate the overall performance of a multiple linear regression model in predicting sales based on advertising expenditures.</a:t>
          </a:r>
          <a:endParaRPr lang="en-US" sz="1500" kern="1200" dirty="0">
            <a:solidFill>
              <a:srgbClr val="212121"/>
            </a:solidFill>
            <a:ea typeface="+mn-ea"/>
            <a:cs typeface="+mn-cs"/>
          </a:endParaRPr>
        </a:p>
      </dsp:txBody>
      <dsp:txXfrm>
        <a:off x="30842" y="1724865"/>
        <a:ext cx="6401842" cy="570116"/>
      </dsp:txXfrm>
    </dsp:sp>
    <dsp:sp modelId="{714F29DD-E58A-4DC4-8D32-844BA1D6B6DE}">
      <dsp:nvSpPr>
        <dsp:cNvPr id="0" name=""/>
        <dsp:cNvSpPr/>
      </dsp:nvSpPr>
      <dsp:spPr>
        <a:xfrm>
          <a:off x="0" y="2369023"/>
          <a:ext cx="6463526" cy="631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solidFill>
                <a:srgbClr val="212121"/>
              </a:solidFill>
              <a:ea typeface="+mn-ea"/>
              <a:cs typeface="+mn-cs"/>
            </a:rPr>
            <a:t>To assess the effect of normalization on model performance and the interpretability of regression coefficients.</a:t>
          </a:r>
          <a:endParaRPr lang="en-US" sz="1500" kern="1200" dirty="0">
            <a:solidFill>
              <a:srgbClr val="212121"/>
            </a:solidFill>
            <a:ea typeface="+mn-ea"/>
            <a:cs typeface="+mn-cs"/>
          </a:endParaRPr>
        </a:p>
      </dsp:txBody>
      <dsp:txXfrm>
        <a:off x="30842" y="2399865"/>
        <a:ext cx="6401842" cy="570116"/>
      </dsp:txXfrm>
    </dsp:sp>
    <dsp:sp modelId="{415CAB21-3E29-4EB0-810C-D47D35B5C739}">
      <dsp:nvSpPr>
        <dsp:cNvPr id="0" name=""/>
        <dsp:cNvSpPr/>
      </dsp:nvSpPr>
      <dsp:spPr>
        <a:xfrm>
          <a:off x="0" y="3044023"/>
          <a:ext cx="6463526" cy="631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solidFill>
                <a:srgbClr val="212121"/>
              </a:solidFill>
              <a:ea typeface="+mn-ea"/>
              <a:cs typeface="+mn-cs"/>
            </a:rPr>
            <a:t>To explore how sales predictions change when certain advertising variables (such as TV) are excluded, thereby testing the relative importance of each predictor.</a:t>
          </a:r>
          <a:endParaRPr lang="en-US" sz="1500" kern="1200" dirty="0">
            <a:solidFill>
              <a:srgbClr val="212121"/>
            </a:solidFill>
            <a:ea typeface="+mn-ea"/>
            <a:cs typeface="+mn-cs"/>
          </a:endParaRPr>
        </a:p>
      </dsp:txBody>
      <dsp:txXfrm>
        <a:off x="30842" y="3074865"/>
        <a:ext cx="6401842" cy="570116"/>
      </dsp:txXfrm>
    </dsp:sp>
    <dsp:sp modelId="{7AC28D2F-C93D-4C1A-854E-B73509DF7D9D}">
      <dsp:nvSpPr>
        <dsp:cNvPr id="0" name=""/>
        <dsp:cNvSpPr/>
      </dsp:nvSpPr>
      <dsp:spPr>
        <a:xfrm>
          <a:off x="0" y="3719023"/>
          <a:ext cx="6463526" cy="631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rgbClr val="212121"/>
              </a:solidFill>
              <a:ea typeface="+mn-ea"/>
              <a:cs typeface="+mn-cs"/>
            </a:rPr>
            <a:t>To provide actionable insights and recommendations that can guide the company’s advertising strategy for maximizing sales and return on investment.</a:t>
          </a:r>
          <a:endParaRPr lang="en-US" sz="1500" kern="1200" dirty="0">
            <a:solidFill>
              <a:srgbClr val="212121"/>
            </a:solidFill>
            <a:latin typeface="Garamond" panose="02020404030301010803"/>
            <a:ea typeface="+mn-ea"/>
            <a:cs typeface="+mn-cs"/>
          </a:endParaRPr>
        </a:p>
      </dsp:txBody>
      <dsp:txXfrm>
        <a:off x="30842" y="3749865"/>
        <a:ext cx="6401842" cy="5701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70CD71-56C3-4870-9547-649AFA79508C}">
      <dsp:nvSpPr>
        <dsp:cNvPr id="0" name=""/>
        <dsp:cNvSpPr/>
      </dsp:nvSpPr>
      <dsp:spPr>
        <a:xfrm>
          <a:off x="486230" y="2941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latin typeface="Garamond"/>
              <a:ea typeface="Calibri"/>
              <a:cs typeface="Calibri"/>
            </a:rPr>
            <a:t>Result:</a:t>
          </a:r>
          <a:r>
            <a:rPr lang="en-GB" sz="2300" kern="1200" dirty="0">
              <a:latin typeface="Garamond"/>
              <a:ea typeface="Calibri"/>
              <a:cs typeface="Calibri"/>
            </a:rPr>
            <a:t> </a:t>
          </a:r>
          <a:br>
            <a:rPr lang="en-GB" sz="2300" kern="1200" dirty="0">
              <a:solidFill>
                <a:srgbClr val="000000"/>
              </a:solidFill>
              <a:latin typeface="Garamond"/>
              <a:ea typeface="Calibri"/>
              <a:cs typeface="Calibri"/>
            </a:rPr>
          </a:br>
          <a:r>
            <a:rPr lang="en-GB" sz="2300" kern="1200" dirty="0">
              <a:latin typeface="Garamond"/>
              <a:ea typeface="Calibri"/>
              <a:cs typeface="Calibri"/>
            </a:rPr>
            <a:t>Average TV spend = 147.04 units.</a:t>
          </a:r>
        </a:p>
      </dsp:txBody>
      <dsp:txXfrm>
        <a:off x="486230" y="2941"/>
        <a:ext cx="2952049" cy="1771229"/>
      </dsp:txXfrm>
    </dsp:sp>
    <dsp:sp modelId="{652A28AD-D689-4C83-A5EC-25606A97BC9A}">
      <dsp:nvSpPr>
        <dsp:cNvPr id="0" name=""/>
        <dsp:cNvSpPr/>
      </dsp:nvSpPr>
      <dsp:spPr>
        <a:xfrm>
          <a:off x="3733484" y="2941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latin typeface="Garamond"/>
              <a:ea typeface="Calibri"/>
              <a:cs typeface="Calibri"/>
            </a:rPr>
            <a:t>Observation:</a:t>
          </a:r>
          <a:r>
            <a:rPr lang="en-GB" sz="2300" kern="1200" dirty="0">
              <a:latin typeface="Garamond"/>
              <a:ea typeface="Calibri"/>
              <a:cs typeface="Calibri"/>
            </a:rPr>
            <a:t> </a:t>
          </a:r>
          <a:br>
            <a:rPr lang="en-GB" sz="2300" kern="1200" dirty="0">
              <a:latin typeface="Garamond"/>
              <a:ea typeface="Calibri"/>
              <a:cs typeface="Calibri"/>
            </a:rPr>
          </a:br>
          <a:r>
            <a:rPr lang="en-GB" sz="2300" kern="1200" dirty="0">
              <a:latin typeface="Garamond"/>
              <a:ea typeface="Calibri"/>
              <a:cs typeface="Calibri"/>
            </a:rPr>
            <a:t>TV receives the highest investment compared to other channels.</a:t>
          </a:r>
        </a:p>
      </dsp:txBody>
      <dsp:txXfrm>
        <a:off x="3733484" y="2941"/>
        <a:ext cx="2952049" cy="1771229"/>
      </dsp:txXfrm>
    </dsp:sp>
    <dsp:sp modelId="{4EDC56C9-16EF-4897-AE60-7A6D6E240857}">
      <dsp:nvSpPr>
        <dsp:cNvPr id="0" name=""/>
        <dsp:cNvSpPr/>
      </dsp:nvSpPr>
      <dsp:spPr>
        <a:xfrm>
          <a:off x="486230" y="2069376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latin typeface="Garamond"/>
              <a:ea typeface="Calibri"/>
              <a:cs typeface="Calibri"/>
            </a:rPr>
            <a:t>Insight:</a:t>
          </a:r>
          <a:r>
            <a:rPr lang="en-GB" sz="2300" kern="1200" dirty="0">
              <a:latin typeface="Garamond"/>
              <a:ea typeface="Calibri"/>
              <a:cs typeface="Calibri"/>
            </a:rPr>
            <a:t> </a:t>
          </a:r>
          <a:br>
            <a:rPr lang="en-GB" sz="2300" kern="1200" dirty="0">
              <a:latin typeface="Garamond"/>
              <a:ea typeface="Calibri"/>
              <a:cs typeface="Calibri"/>
            </a:rPr>
          </a:br>
          <a:r>
            <a:rPr lang="en-GB" sz="2300" kern="1200" dirty="0">
              <a:latin typeface="Garamond"/>
              <a:ea typeface="Calibri"/>
              <a:cs typeface="Calibri"/>
            </a:rPr>
            <a:t>Indicates TV is already treated as the primary advertising medium.</a:t>
          </a:r>
        </a:p>
      </dsp:txBody>
      <dsp:txXfrm>
        <a:off x="486230" y="2069376"/>
        <a:ext cx="2952049" cy="1771229"/>
      </dsp:txXfrm>
    </dsp:sp>
    <dsp:sp modelId="{63274993-B2C4-49EC-902B-F7314843ABEE}">
      <dsp:nvSpPr>
        <dsp:cNvPr id="0" name=""/>
        <dsp:cNvSpPr/>
      </dsp:nvSpPr>
      <dsp:spPr>
        <a:xfrm>
          <a:off x="3733484" y="2069376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latin typeface="Garamond"/>
              <a:ea typeface="Calibri"/>
              <a:cs typeface="Calibri"/>
            </a:rPr>
            <a:t>Recommendation:</a:t>
          </a:r>
          <a:r>
            <a:rPr lang="en-GB" sz="2300" kern="1200" dirty="0">
              <a:latin typeface="Garamond"/>
              <a:ea typeface="Calibri"/>
              <a:cs typeface="Calibri"/>
            </a:rPr>
            <a:t> </a:t>
          </a:r>
          <a:br>
            <a:rPr lang="en-GB" sz="2300" kern="1200" dirty="0">
              <a:latin typeface="Garamond"/>
              <a:ea typeface="Calibri"/>
              <a:cs typeface="Calibri"/>
            </a:rPr>
          </a:br>
          <a:r>
            <a:rPr lang="en-GB" sz="2300" kern="1200" dirty="0">
              <a:latin typeface="Garamond"/>
              <a:ea typeface="Calibri"/>
              <a:cs typeface="Calibri"/>
            </a:rPr>
            <a:t>Continue allocating substantial budget to TV advertising.</a:t>
          </a:r>
        </a:p>
      </dsp:txBody>
      <dsp:txXfrm>
        <a:off x="3733484" y="2069376"/>
        <a:ext cx="2952049" cy="1771229"/>
      </dsp:txXfrm>
    </dsp:sp>
    <dsp:sp modelId="{1C5AE2AB-E20D-4258-91FC-9590403BA773}">
      <dsp:nvSpPr>
        <dsp:cNvPr id="0" name=""/>
        <dsp:cNvSpPr/>
      </dsp:nvSpPr>
      <dsp:spPr>
        <a:xfrm>
          <a:off x="486230" y="4135810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latin typeface="Garamond"/>
              <a:ea typeface="Calibri"/>
              <a:cs typeface="Calibri"/>
            </a:rPr>
            <a:t>Conclusion:</a:t>
          </a:r>
          <a:r>
            <a:rPr lang="en-GB" sz="2300" kern="1200" dirty="0">
              <a:latin typeface="Garamond"/>
              <a:ea typeface="Calibri"/>
              <a:cs typeface="Calibri"/>
            </a:rPr>
            <a:t> </a:t>
          </a:r>
          <a:br>
            <a:rPr lang="en-GB" sz="2300" kern="1200" dirty="0">
              <a:latin typeface="Garamond"/>
              <a:ea typeface="Calibri"/>
              <a:cs typeface="Calibri"/>
            </a:rPr>
          </a:br>
          <a:r>
            <a:rPr lang="en-GB" sz="2300" kern="1200" dirty="0">
              <a:latin typeface="Garamond"/>
              <a:ea typeface="Calibri"/>
              <a:cs typeface="Calibri"/>
            </a:rPr>
            <a:t>TV is the central pillar of the advertising strategy.</a:t>
          </a:r>
        </a:p>
      </dsp:txBody>
      <dsp:txXfrm>
        <a:off x="486230" y="4135810"/>
        <a:ext cx="2952049" cy="1771229"/>
      </dsp:txXfrm>
    </dsp:sp>
    <dsp:sp modelId="{AB50FD25-5AB7-4E72-8C32-E4B2B3E03E29}">
      <dsp:nvSpPr>
        <dsp:cNvPr id="0" name=""/>
        <dsp:cNvSpPr/>
      </dsp:nvSpPr>
      <dsp:spPr>
        <a:xfrm>
          <a:off x="3733484" y="4135810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>
              <a:latin typeface="Garamond"/>
              <a:ea typeface="Calibri"/>
              <a:cs typeface="Calibri"/>
            </a:rPr>
            <a:t>Key takeaway:</a:t>
          </a:r>
          <a:r>
            <a:rPr lang="en-GB" sz="2300" kern="1200" dirty="0">
              <a:latin typeface="Garamond"/>
              <a:ea typeface="Calibri"/>
              <a:cs typeface="Calibri"/>
            </a:rPr>
            <a:t> </a:t>
          </a:r>
          <a:br>
            <a:rPr lang="en-GB" sz="2300" kern="1200" dirty="0">
              <a:latin typeface="Garamond"/>
              <a:ea typeface="Calibri"/>
              <a:cs typeface="Calibri"/>
            </a:rPr>
          </a:br>
          <a:r>
            <a:rPr lang="en-GB" sz="2300" kern="1200" dirty="0">
              <a:latin typeface="Garamond"/>
              <a:ea typeface="Calibri"/>
              <a:cs typeface="Calibri"/>
            </a:rPr>
            <a:t>High average spend highlights the company’s reliance on mass-media advertising.</a:t>
          </a:r>
        </a:p>
      </dsp:txBody>
      <dsp:txXfrm>
        <a:off x="3733484" y="4135810"/>
        <a:ext cx="2952049" cy="17712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B94F36-18EE-4674-A3AC-3D62A8719449}">
      <dsp:nvSpPr>
        <dsp:cNvPr id="0" name=""/>
        <dsp:cNvSpPr/>
      </dsp:nvSpPr>
      <dsp:spPr>
        <a:xfrm>
          <a:off x="486230" y="2941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Result:</a:t>
          </a:r>
          <a:r>
            <a:rPr lang="en-GB" sz="2400" kern="1200" dirty="0"/>
            <a:t> </a:t>
          </a:r>
          <a:br>
            <a:rPr lang="en-GB" sz="2400" kern="1200" dirty="0">
              <a:latin typeface="Garamond" panose="02020404030301010803"/>
            </a:rPr>
          </a:br>
          <a:r>
            <a:rPr lang="en-GB" sz="2400" kern="1200" dirty="0"/>
            <a:t>Correlation = 0.35 (moderate positive).</a:t>
          </a:r>
          <a:endParaRPr lang="en-GB" sz="2400" kern="1200" dirty="0">
            <a:latin typeface="Garamond" panose="02020404030301010803"/>
          </a:endParaRPr>
        </a:p>
      </dsp:txBody>
      <dsp:txXfrm>
        <a:off x="486230" y="2941"/>
        <a:ext cx="2952049" cy="1771229"/>
      </dsp:txXfrm>
    </dsp:sp>
    <dsp:sp modelId="{D1EA19FF-16C0-41C6-93C6-597F17A92719}">
      <dsp:nvSpPr>
        <dsp:cNvPr id="0" name=""/>
        <dsp:cNvSpPr/>
      </dsp:nvSpPr>
      <dsp:spPr>
        <a:xfrm>
          <a:off x="3733484" y="2941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Observation:</a:t>
          </a:r>
          <a:r>
            <a:rPr lang="en-GB" sz="2400" kern="1200" dirty="0"/>
            <a:t> </a:t>
          </a:r>
          <a:br>
            <a:rPr lang="en-GB" sz="2400" kern="12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400" kern="1200" dirty="0"/>
            <a:t>Radio spend moderately boosts sales.</a:t>
          </a:r>
        </a:p>
      </dsp:txBody>
      <dsp:txXfrm>
        <a:off x="3733484" y="2941"/>
        <a:ext cx="2952049" cy="1771229"/>
      </dsp:txXfrm>
    </dsp:sp>
    <dsp:sp modelId="{E8E2DAD7-9DB0-4861-8EC7-69307AC145B7}">
      <dsp:nvSpPr>
        <dsp:cNvPr id="0" name=""/>
        <dsp:cNvSpPr/>
      </dsp:nvSpPr>
      <dsp:spPr>
        <a:xfrm>
          <a:off x="486230" y="2069376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Insight:</a:t>
          </a:r>
          <a:r>
            <a:rPr lang="en-GB" sz="2400" kern="1200" dirty="0"/>
            <a:t> </a:t>
          </a:r>
          <a:br>
            <a:rPr lang="en-GB" sz="2400" kern="12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400" kern="1200" dirty="0"/>
            <a:t>Radio helps but impact is smaller than TV.</a:t>
          </a:r>
        </a:p>
      </dsp:txBody>
      <dsp:txXfrm>
        <a:off x="486230" y="2069376"/>
        <a:ext cx="2952049" cy="1771229"/>
      </dsp:txXfrm>
    </dsp:sp>
    <dsp:sp modelId="{291C06F3-617E-480F-AF65-11473B6D0CC4}">
      <dsp:nvSpPr>
        <dsp:cNvPr id="0" name=""/>
        <dsp:cNvSpPr/>
      </dsp:nvSpPr>
      <dsp:spPr>
        <a:xfrm>
          <a:off x="3733484" y="2069376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Recommendation:</a:t>
          </a:r>
          <a:r>
            <a:rPr lang="en-GB" sz="2400" kern="1200" dirty="0"/>
            <a:t> </a:t>
          </a:r>
          <a:br>
            <a:rPr lang="en-GB" sz="2400" kern="1200" dirty="0">
              <a:latin typeface="Garamond" panose="02020404030301010803"/>
            </a:rPr>
          </a:br>
          <a:r>
            <a:rPr lang="en-GB" sz="2400" kern="1200" dirty="0"/>
            <a:t>Maintain radio as a supporting channel.</a:t>
          </a:r>
        </a:p>
      </dsp:txBody>
      <dsp:txXfrm>
        <a:off x="3733484" y="2069376"/>
        <a:ext cx="2952049" cy="1771229"/>
      </dsp:txXfrm>
    </dsp:sp>
    <dsp:sp modelId="{EC92176A-F82A-46E8-A683-496F0838BC11}">
      <dsp:nvSpPr>
        <dsp:cNvPr id="0" name=""/>
        <dsp:cNvSpPr/>
      </dsp:nvSpPr>
      <dsp:spPr>
        <a:xfrm>
          <a:off x="486230" y="4135810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Conclusion:</a:t>
          </a:r>
          <a:r>
            <a:rPr lang="en-GB" sz="2400" kern="1200" dirty="0"/>
            <a:t> </a:t>
          </a:r>
          <a:br>
            <a:rPr lang="en-GB" sz="2400" kern="1200" dirty="0">
              <a:latin typeface="Garamond" panose="02020404030301010803"/>
            </a:rPr>
          </a:br>
          <a:r>
            <a:rPr lang="en-GB" sz="2400" kern="1200" dirty="0"/>
            <a:t>Radio is useful for targeted audiences but not a main driver.</a:t>
          </a:r>
        </a:p>
      </dsp:txBody>
      <dsp:txXfrm>
        <a:off x="486230" y="4135810"/>
        <a:ext cx="2952049" cy="1771229"/>
      </dsp:txXfrm>
    </dsp:sp>
    <dsp:sp modelId="{F495010C-818D-4611-8E87-2F38E7A44EA1}">
      <dsp:nvSpPr>
        <dsp:cNvPr id="0" name=""/>
        <dsp:cNvSpPr/>
      </dsp:nvSpPr>
      <dsp:spPr>
        <a:xfrm>
          <a:off x="3733484" y="4135810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Key takeaway:</a:t>
          </a:r>
          <a:r>
            <a:rPr lang="en-GB" sz="2400" kern="1200" dirty="0"/>
            <a:t> </a:t>
          </a:r>
          <a:br>
            <a:rPr lang="en-GB" sz="2400" kern="1200" dirty="0">
              <a:latin typeface="Garamond" panose="02020404030301010803"/>
            </a:rPr>
          </a:br>
          <a:r>
            <a:rPr lang="en-GB" sz="2400" kern="1200" dirty="0"/>
            <a:t>Radio works best when combined with TV campaigns for synergy</a:t>
          </a:r>
          <a:r>
            <a:rPr lang="en-GB" sz="2400" kern="1200" dirty="0">
              <a:latin typeface="Garamond" panose="02020404030301010803"/>
            </a:rPr>
            <a:t>.</a:t>
          </a:r>
          <a:endParaRPr lang="en-GB" sz="2400" kern="1200" dirty="0"/>
        </a:p>
      </dsp:txBody>
      <dsp:txXfrm>
        <a:off x="3733484" y="4135810"/>
        <a:ext cx="2952049" cy="17712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8E2CBD-27C0-4B69-855E-C9D2F589FE2E}">
      <dsp:nvSpPr>
        <dsp:cNvPr id="0" name=""/>
        <dsp:cNvSpPr/>
      </dsp:nvSpPr>
      <dsp:spPr>
        <a:xfrm>
          <a:off x="486230" y="2941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Result:</a:t>
          </a:r>
          <a:r>
            <a:rPr lang="en-GB" sz="2200" b="0" kern="1200" dirty="0"/>
            <a:t> TV: </a:t>
          </a:r>
          <a:br>
            <a:rPr lang="en-GB" sz="2200" b="0" kern="1200" dirty="0">
              <a:latin typeface="Garamond" panose="02020404030301010803"/>
            </a:rPr>
          </a:br>
          <a:r>
            <a:rPr lang="en-GB" sz="2200" b="0" kern="1200" dirty="0"/>
            <a:t>4.66, Radio: 1.58, Newspaper: 0.007.</a:t>
          </a:r>
          <a:endParaRPr lang="en-GB" sz="2200" b="0" kern="1200" dirty="0">
            <a:latin typeface="Garamond" panose="02020404030301010803"/>
          </a:endParaRPr>
        </a:p>
      </dsp:txBody>
      <dsp:txXfrm>
        <a:off x="486230" y="2941"/>
        <a:ext cx="2952049" cy="1771229"/>
      </dsp:txXfrm>
    </dsp:sp>
    <dsp:sp modelId="{5425505D-D56B-4377-9A5E-F6EAE6E80E60}">
      <dsp:nvSpPr>
        <dsp:cNvPr id="0" name=""/>
        <dsp:cNvSpPr/>
      </dsp:nvSpPr>
      <dsp:spPr>
        <a:xfrm>
          <a:off x="3733484" y="2941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Observation:</a:t>
          </a:r>
          <a:r>
            <a:rPr lang="en-GB" sz="2200" b="0" kern="1200" dirty="0"/>
            <a:t> </a:t>
          </a:r>
          <a:br>
            <a:rPr lang="en-GB" sz="2200" b="0" kern="1200" dirty="0">
              <a:latin typeface="Garamond" panose="02020404030301010803"/>
            </a:rPr>
          </a:br>
          <a:r>
            <a:rPr lang="en-GB" sz="2200" b="0" kern="1200" dirty="0"/>
            <a:t>TV has the strongest impact; Newspaper is negligible.</a:t>
          </a:r>
          <a:endParaRPr lang="en-GB" sz="2200" kern="1200" dirty="0"/>
        </a:p>
      </dsp:txBody>
      <dsp:txXfrm>
        <a:off x="3733484" y="2941"/>
        <a:ext cx="2952049" cy="1771229"/>
      </dsp:txXfrm>
    </dsp:sp>
    <dsp:sp modelId="{ED0A119E-E1DA-437D-B9AA-E48FCCAF1B5C}">
      <dsp:nvSpPr>
        <dsp:cNvPr id="0" name=""/>
        <dsp:cNvSpPr/>
      </dsp:nvSpPr>
      <dsp:spPr>
        <a:xfrm>
          <a:off x="486230" y="2069376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Insight:</a:t>
          </a:r>
          <a:r>
            <a:rPr lang="en-GB" sz="2200" b="0" kern="1200" dirty="0"/>
            <a:t> </a:t>
          </a:r>
          <a:br>
            <a:rPr lang="en-GB" sz="2200" b="0" kern="1200" dirty="0">
              <a:latin typeface="Garamond" panose="02020404030301010803"/>
            </a:rPr>
          </a:br>
          <a:r>
            <a:rPr lang="en-GB" sz="2200" b="0" kern="1200" dirty="0"/>
            <a:t>TV drives most sales, Radio supports, Newspaper is ineffective.</a:t>
          </a:r>
          <a:endParaRPr lang="en-GB" sz="2200" kern="1200" dirty="0"/>
        </a:p>
      </dsp:txBody>
      <dsp:txXfrm>
        <a:off x="486230" y="2069376"/>
        <a:ext cx="2952049" cy="1771229"/>
      </dsp:txXfrm>
    </dsp:sp>
    <dsp:sp modelId="{53143759-1138-4ACC-8257-C0B8B597E4A3}">
      <dsp:nvSpPr>
        <dsp:cNvPr id="0" name=""/>
        <dsp:cNvSpPr/>
      </dsp:nvSpPr>
      <dsp:spPr>
        <a:xfrm>
          <a:off x="3733484" y="2069376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Recommendation:</a:t>
          </a:r>
          <a:r>
            <a:rPr lang="en-GB" sz="2200" b="0" kern="1200" dirty="0"/>
            <a:t> </a:t>
          </a:r>
          <a:br>
            <a:rPr lang="en-GB" sz="2200" b="0" kern="1200" dirty="0">
              <a:latin typeface="Garamond" panose="02020404030301010803"/>
            </a:rPr>
          </a:br>
          <a:r>
            <a:rPr lang="en-GB" sz="2200" b="0" kern="1200" dirty="0"/>
            <a:t>Increase TV spend, reduce Newspaper, keep Radio as support.</a:t>
          </a:r>
          <a:endParaRPr lang="en-GB" sz="2200" kern="1200" dirty="0"/>
        </a:p>
      </dsp:txBody>
      <dsp:txXfrm>
        <a:off x="3733484" y="2069376"/>
        <a:ext cx="2952049" cy="1771229"/>
      </dsp:txXfrm>
    </dsp:sp>
    <dsp:sp modelId="{9DDC70E4-D946-4964-A0A9-938FEE2B0750}">
      <dsp:nvSpPr>
        <dsp:cNvPr id="0" name=""/>
        <dsp:cNvSpPr/>
      </dsp:nvSpPr>
      <dsp:spPr>
        <a:xfrm>
          <a:off x="486230" y="4135810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Conclusion:</a:t>
          </a:r>
          <a:r>
            <a:rPr lang="en-GB" sz="2200" b="0" kern="1200" dirty="0"/>
            <a:t> </a:t>
          </a:r>
          <a:br>
            <a:rPr lang="en-GB" sz="2200" b="0" kern="1200" dirty="0">
              <a:latin typeface="Garamond" panose="02020404030301010803"/>
            </a:rPr>
          </a:br>
          <a:r>
            <a:rPr lang="en-GB" sz="2200" b="0" kern="1200" dirty="0"/>
            <a:t>TV should remain the priority for maximum sales impact.</a:t>
          </a:r>
          <a:endParaRPr lang="en-GB" sz="2200" kern="1200" dirty="0"/>
        </a:p>
      </dsp:txBody>
      <dsp:txXfrm>
        <a:off x="486230" y="4135810"/>
        <a:ext cx="2952049" cy="1771229"/>
      </dsp:txXfrm>
    </dsp:sp>
    <dsp:sp modelId="{438BEC22-48C6-4253-BE63-F78D14A3AFAD}">
      <dsp:nvSpPr>
        <dsp:cNvPr id="0" name=""/>
        <dsp:cNvSpPr/>
      </dsp:nvSpPr>
      <dsp:spPr>
        <a:xfrm>
          <a:off x="3733484" y="4135810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Key takeaway:</a:t>
          </a:r>
          <a:r>
            <a:rPr lang="en-GB" sz="2200" b="0" kern="1200" dirty="0"/>
            <a:t> </a:t>
          </a:r>
          <a:br>
            <a:rPr lang="en-GB" sz="2200" b="0" kern="1200" dirty="0">
              <a:latin typeface="Garamond" panose="02020404030301010803"/>
            </a:rPr>
          </a:br>
          <a:r>
            <a:rPr lang="en-GB" sz="2200" b="0" kern="1200" dirty="0"/>
            <a:t>Newspaper spending offers very low return on investment compared to other channels.</a:t>
          </a:r>
          <a:endParaRPr lang="en-GB" sz="2200" kern="1200" dirty="0"/>
        </a:p>
      </dsp:txBody>
      <dsp:txXfrm>
        <a:off x="3733484" y="4135810"/>
        <a:ext cx="2952049" cy="17712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F25B93-B4AF-4140-9632-A051745747F8}">
      <dsp:nvSpPr>
        <dsp:cNvPr id="0" name=""/>
        <dsp:cNvSpPr/>
      </dsp:nvSpPr>
      <dsp:spPr>
        <a:xfrm>
          <a:off x="486230" y="2941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Result:</a:t>
          </a:r>
          <a:r>
            <a:rPr lang="en-GB" sz="2100" kern="1200" dirty="0"/>
            <a:t> </a:t>
          </a:r>
          <a:br>
            <a:rPr lang="en-GB" sz="2100" kern="1200" dirty="0">
              <a:latin typeface="Garamond" panose="02020404030301010803"/>
            </a:rPr>
          </a:br>
          <a:r>
            <a:rPr lang="en-GB" sz="2100" kern="1200" dirty="0"/>
            <a:t>Predictions closely match actual sales values.</a:t>
          </a:r>
          <a:endParaRPr lang="en-GB" sz="2100" kern="1200" dirty="0">
            <a:latin typeface="Garamond" panose="02020404030301010803"/>
          </a:endParaRPr>
        </a:p>
      </dsp:txBody>
      <dsp:txXfrm>
        <a:off x="486230" y="2941"/>
        <a:ext cx="2952049" cy="1771229"/>
      </dsp:txXfrm>
    </dsp:sp>
    <dsp:sp modelId="{14C6B9AA-01D2-4FD5-A831-F9C8D1CFD369}">
      <dsp:nvSpPr>
        <dsp:cNvPr id="0" name=""/>
        <dsp:cNvSpPr/>
      </dsp:nvSpPr>
      <dsp:spPr>
        <a:xfrm>
          <a:off x="3733484" y="2941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Observation:</a:t>
          </a:r>
          <a:r>
            <a:rPr lang="en-GB" sz="2100" kern="1200" dirty="0"/>
            <a:t> </a:t>
          </a:r>
          <a:br>
            <a:rPr lang="en-GB" sz="2100" kern="1200" dirty="0">
              <a:latin typeface="Garamond" panose="02020404030301010803"/>
            </a:rPr>
          </a:br>
          <a:r>
            <a:rPr lang="en-GB" sz="2100" kern="1200" dirty="0"/>
            <a:t>Small deviations exist but overall accuracy is strong.</a:t>
          </a:r>
        </a:p>
      </dsp:txBody>
      <dsp:txXfrm>
        <a:off x="3733484" y="2941"/>
        <a:ext cx="2952049" cy="1771229"/>
      </dsp:txXfrm>
    </dsp:sp>
    <dsp:sp modelId="{38DB91FF-4BD4-4358-BFB6-3880385E14F5}">
      <dsp:nvSpPr>
        <dsp:cNvPr id="0" name=""/>
        <dsp:cNvSpPr/>
      </dsp:nvSpPr>
      <dsp:spPr>
        <a:xfrm>
          <a:off x="486230" y="2069376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Insight:</a:t>
          </a:r>
          <a:r>
            <a:rPr lang="en-GB" sz="2100" kern="1200" dirty="0"/>
            <a:t> </a:t>
          </a:r>
          <a:br>
            <a:rPr lang="en-GB" sz="2100" kern="1200" dirty="0">
              <a:latin typeface="Garamond" panose="02020404030301010803"/>
            </a:rPr>
          </a:br>
          <a:r>
            <a:rPr lang="en-GB" sz="2100" kern="1200" dirty="0"/>
            <a:t>The regression model is a reliable tool for sales prediction.</a:t>
          </a:r>
        </a:p>
      </dsp:txBody>
      <dsp:txXfrm>
        <a:off x="486230" y="2069376"/>
        <a:ext cx="2952049" cy="1771229"/>
      </dsp:txXfrm>
    </dsp:sp>
    <dsp:sp modelId="{CA598264-AEB5-4B5A-BFFB-5D62CA8C009D}">
      <dsp:nvSpPr>
        <dsp:cNvPr id="0" name=""/>
        <dsp:cNvSpPr/>
      </dsp:nvSpPr>
      <dsp:spPr>
        <a:xfrm>
          <a:off x="3733484" y="2069376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Recommendation:</a:t>
          </a:r>
          <a:br>
            <a:rPr lang="en-GB" sz="2100" b="1" kern="1200" dirty="0">
              <a:latin typeface="Garamond" panose="02020404030301010803"/>
            </a:rPr>
          </a:br>
          <a:r>
            <a:rPr lang="en-GB" sz="2100" kern="1200" dirty="0"/>
            <a:t>Use the model for budget allocation decisions.</a:t>
          </a:r>
        </a:p>
      </dsp:txBody>
      <dsp:txXfrm>
        <a:off x="3733484" y="2069376"/>
        <a:ext cx="2952049" cy="1771229"/>
      </dsp:txXfrm>
    </dsp:sp>
    <dsp:sp modelId="{20C77B5C-D3B0-42AF-9093-5E193014E815}">
      <dsp:nvSpPr>
        <dsp:cNvPr id="0" name=""/>
        <dsp:cNvSpPr/>
      </dsp:nvSpPr>
      <dsp:spPr>
        <a:xfrm>
          <a:off x="486230" y="4135810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Conclusion:</a:t>
          </a:r>
          <a:r>
            <a:rPr lang="en-GB" sz="2100" kern="1200" dirty="0"/>
            <a:t> </a:t>
          </a:r>
          <a:br>
            <a:rPr lang="en-GB" sz="2100" kern="12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100" kern="1200" dirty="0"/>
            <a:t>Multiple regression is effective in predicting sales.</a:t>
          </a:r>
        </a:p>
      </dsp:txBody>
      <dsp:txXfrm>
        <a:off x="486230" y="4135810"/>
        <a:ext cx="2952049" cy="1771229"/>
      </dsp:txXfrm>
    </dsp:sp>
    <dsp:sp modelId="{F2469320-716E-458F-913F-ECB413626F84}">
      <dsp:nvSpPr>
        <dsp:cNvPr id="0" name=""/>
        <dsp:cNvSpPr/>
      </dsp:nvSpPr>
      <dsp:spPr>
        <a:xfrm>
          <a:off x="3733484" y="4135810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Key takeaway:</a:t>
          </a:r>
          <a:r>
            <a:rPr lang="en-GB" sz="2100" kern="1200" dirty="0"/>
            <a:t> </a:t>
          </a:r>
          <a:br>
            <a:rPr lang="en-GB" sz="2100" kern="12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100" kern="1200" dirty="0"/>
            <a:t>The model could be improved further by adding new advertising or digital marketing channels.</a:t>
          </a:r>
        </a:p>
      </dsp:txBody>
      <dsp:txXfrm>
        <a:off x="3733484" y="4135810"/>
        <a:ext cx="2952049" cy="17712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E9B82D-34E2-4FE4-ADF2-820CEC522899}">
      <dsp:nvSpPr>
        <dsp:cNvPr id="0" name=""/>
        <dsp:cNvSpPr/>
      </dsp:nvSpPr>
      <dsp:spPr>
        <a:xfrm>
          <a:off x="486230" y="2941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Result:</a:t>
          </a:r>
          <a:r>
            <a:rPr lang="en-GB" sz="2400" b="0" kern="1200" dirty="0"/>
            <a:t> </a:t>
          </a:r>
          <a:br>
            <a:rPr lang="en-GB" sz="2400" b="0" kern="12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400" b="0" kern="1200" dirty="0"/>
            <a:t>Predicted Sales ≈ 19.8 units.</a:t>
          </a:r>
        </a:p>
      </dsp:txBody>
      <dsp:txXfrm>
        <a:off x="486230" y="2941"/>
        <a:ext cx="2952049" cy="1771229"/>
      </dsp:txXfrm>
    </dsp:sp>
    <dsp:sp modelId="{1B0FEACD-B49F-4CE7-AB08-A72E86014306}">
      <dsp:nvSpPr>
        <dsp:cNvPr id="0" name=""/>
        <dsp:cNvSpPr/>
      </dsp:nvSpPr>
      <dsp:spPr>
        <a:xfrm>
          <a:off x="3733484" y="2941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Observation:</a:t>
          </a:r>
          <a:r>
            <a:rPr lang="en-GB" sz="2400" b="0" kern="1200" dirty="0"/>
            <a:t> </a:t>
          </a:r>
          <a:br>
            <a:rPr lang="en-GB" sz="2400" b="0" kern="1200" dirty="0">
              <a:latin typeface="Garamond" panose="02020404030301010803"/>
            </a:rPr>
          </a:br>
          <a:r>
            <a:rPr lang="en-GB" sz="2400" b="0" kern="1200" dirty="0"/>
            <a:t>Model can forecast sales based on new inputs.</a:t>
          </a:r>
          <a:endParaRPr lang="en-GB" sz="2400" kern="1200" dirty="0"/>
        </a:p>
      </dsp:txBody>
      <dsp:txXfrm>
        <a:off x="3733484" y="2941"/>
        <a:ext cx="2952049" cy="1771229"/>
      </dsp:txXfrm>
    </dsp:sp>
    <dsp:sp modelId="{1C130D12-28F2-4B96-AF22-7E4BB67BDDA1}">
      <dsp:nvSpPr>
        <dsp:cNvPr id="0" name=""/>
        <dsp:cNvSpPr/>
      </dsp:nvSpPr>
      <dsp:spPr>
        <a:xfrm>
          <a:off x="486230" y="2069376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Insight:</a:t>
          </a:r>
          <a:r>
            <a:rPr lang="en-GB" sz="2400" b="0" kern="1200" dirty="0"/>
            <a:t> </a:t>
          </a:r>
          <a:br>
            <a:rPr lang="en-GB" sz="2400" b="0" kern="12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400" b="0" kern="1200" dirty="0"/>
            <a:t>Useful for scenario planning with different ad spends.</a:t>
          </a:r>
          <a:endParaRPr lang="en-GB" sz="2400" kern="1200" dirty="0"/>
        </a:p>
      </dsp:txBody>
      <dsp:txXfrm>
        <a:off x="486230" y="2069376"/>
        <a:ext cx="2952049" cy="1771229"/>
      </dsp:txXfrm>
    </dsp:sp>
    <dsp:sp modelId="{368263CB-7AA7-4498-BB72-462C08E79624}">
      <dsp:nvSpPr>
        <dsp:cNvPr id="0" name=""/>
        <dsp:cNvSpPr/>
      </dsp:nvSpPr>
      <dsp:spPr>
        <a:xfrm>
          <a:off x="3733484" y="2069376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Recommendation:</a:t>
          </a:r>
          <a:r>
            <a:rPr lang="en-GB" sz="2400" b="0" kern="1200" dirty="0"/>
            <a:t> </a:t>
          </a:r>
          <a:br>
            <a:rPr lang="en-GB" sz="2400" b="0" kern="12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400" b="0" kern="1200" dirty="0"/>
            <a:t>Apply the model for forecasting future campaigns.</a:t>
          </a:r>
          <a:endParaRPr lang="en-GB" sz="2400" kern="1200" dirty="0"/>
        </a:p>
      </dsp:txBody>
      <dsp:txXfrm>
        <a:off x="3733484" y="2069376"/>
        <a:ext cx="2952049" cy="1771229"/>
      </dsp:txXfrm>
    </dsp:sp>
    <dsp:sp modelId="{EB821E35-9710-4B86-974E-F63E862F73C7}">
      <dsp:nvSpPr>
        <dsp:cNvPr id="0" name=""/>
        <dsp:cNvSpPr/>
      </dsp:nvSpPr>
      <dsp:spPr>
        <a:xfrm>
          <a:off x="486230" y="4135810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Conclusion:</a:t>
          </a:r>
          <a:r>
            <a:rPr lang="en-GB" sz="2400" b="0" kern="1200" dirty="0"/>
            <a:t> </a:t>
          </a:r>
          <a:br>
            <a:rPr lang="en-GB" sz="2400" b="0" kern="1200" dirty="0">
              <a:latin typeface="Garamond" panose="02020404030301010803"/>
            </a:rPr>
          </a:br>
          <a:r>
            <a:rPr lang="en-GB" sz="2400" b="0" kern="1200" dirty="0"/>
            <a:t>Regression helps guide strategic budget planning.</a:t>
          </a:r>
          <a:endParaRPr lang="en-GB" sz="2400" kern="1200" dirty="0"/>
        </a:p>
      </dsp:txBody>
      <dsp:txXfrm>
        <a:off x="486230" y="4135810"/>
        <a:ext cx="2952049" cy="1771229"/>
      </dsp:txXfrm>
    </dsp:sp>
    <dsp:sp modelId="{3B692C24-2726-4736-A694-CBF22D432C13}">
      <dsp:nvSpPr>
        <dsp:cNvPr id="0" name=""/>
        <dsp:cNvSpPr/>
      </dsp:nvSpPr>
      <dsp:spPr>
        <a:xfrm>
          <a:off x="3733484" y="4135810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Key takeaway:</a:t>
          </a:r>
          <a:r>
            <a:rPr lang="en-GB" sz="2400" b="0" kern="1200" dirty="0"/>
            <a:t> </a:t>
          </a:r>
          <a:br>
            <a:rPr lang="en-GB" sz="2400" b="0" kern="1200" dirty="0">
              <a:latin typeface="Garamond" panose="02020404030301010803"/>
            </a:rPr>
          </a:br>
          <a:r>
            <a:rPr lang="en-GB" sz="2400" b="0" kern="1200" dirty="0"/>
            <a:t>This predictive ability supports better resource allocation and risk reduction.</a:t>
          </a:r>
          <a:endParaRPr lang="en-GB" sz="2400" kern="1200" dirty="0"/>
        </a:p>
      </dsp:txBody>
      <dsp:txXfrm>
        <a:off x="3733484" y="4135810"/>
        <a:ext cx="2952049" cy="177122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96CF8-40D1-437F-8877-3021480B7FA7}">
      <dsp:nvSpPr>
        <dsp:cNvPr id="0" name=""/>
        <dsp:cNvSpPr/>
      </dsp:nvSpPr>
      <dsp:spPr>
        <a:xfrm>
          <a:off x="486230" y="2941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Result:</a:t>
          </a:r>
          <a:r>
            <a:rPr lang="en-GB" sz="2000" kern="1200" dirty="0"/>
            <a:t> </a:t>
          </a:r>
          <a:br>
            <a:rPr lang="en-GB" sz="2000" kern="12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000" kern="1200" dirty="0"/>
            <a:t>R² and errors remain almost unchanged.</a:t>
          </a:r>
          <a:endParaRPr lang="en-GB" sz="2000" kern="1200" dirty="0">
            <a:latin typeface="Garamond" panose="02020404030301010803"/>
          </a:endParaRPr>
        </a:p>
      </dsp:txBody>
      <dsp:txXfrm>
        <a:off x="486230" y="2941"/>
        <a:ext cx="2952049" cy="1771229"/>
      </dsp:txXfrm>
    </dsp:sp>
    <dsp:sp modelId="{768BC97B-6449-45A9-964C-794DFF40BE3F}">
      <dsp:nvSpPr>
        <dsp:cNvPr id="0" name=""/>
        <dsp:cNvSpPr/>
      </dsp:nvSpPr>
      <dsp:spPr>
        <a:xfrm>
          <a:off x="3733484" y="2941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Observation:</a:t>
          </a:r>
          <a:r>
            <a:rPr lang="en-GB" sz="2000" kern="1200" dirty="0"/>
            <a:t> </a:t>
          </a:r>
          <a:br>
            <a:rPr lang="en-GB" sz="2000" kern="1200" dirty="0">
              <a:latin typeface="Garamond" panose="02020404030301010803"/>
            </a:rPr>
          </a:br>
          <a:r>
            <a:rPr lang="en-GB" sz="2000" kern="1200" dirty="0"/>
            <a:t>Coefficients change in scale, not accuracy.</a:t>
          </a:r>
        </a:p>
      </dsp:txBody>
      <dsp:txXfrm>
        <a:off x="3733484" y="2941"/>
        <a:ext cx="2952049" cy="1771229"/>
      </dsp:txXfrm>
    </dsp:sp>
    <dsp:sp modelId="{94A5299B-24C9-4C22-9E87-B3FA689FBCAE}">
      <dsp:nvSpPr>
        <dsp:cNvPr id="0" name=""/>
        <dsp:cNvSpPr/>
      </dsp:nvSpPr>
      <dsp:spPr>
        <a:xfrm>
          <a:off x="486230" y="2069376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Insight:</a:t>
          </a:r>
          <a:r>
            <a:rPr lang="en-GB" sz="2000" kern="1200" dirty="0"/>
            <a:t> </a:t>
          </a:r>
          <a:br>
            <a:rPr lang="en-GB" sz="2000" kern="12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000" kern="1200" dirty="0"/>
            <a:t>Normalization improves interpretability, not performance.</a:t>
          </a:r>
        </a:p>
      </dsp:txBody>
      <dsp:txXfrm>
        <a:off x="486230" y="2069376"/>
        <a:ext cx="2952049" cy="1771229"/>
      </dsp:txXfrm>
    </dsp:sp>
    <dsp:sp modelId="{D7A646FC-41D0-4BFA-BFFE-72D6B30074BD}">
      <dsp:nvSpPr>
        <dsp:cNvPr id="0" name=""/>
        <dsp:cNvSpPr/>
      </dsp:nvSpPr>
      <dsp:spPr>
        <a:xfrm>
          <a:off x="3733484" y="2069376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Recommendation:</a:t>
          </a:r>
          <a:r>
            <a:rPr lang="en-GB" sz="2000" kern="1200" dirty="0"/>
            <a:t> </a:t>
          </a:r>
          <a:br>
            <a:rPr lang="en-GB" sz="2000" kern="1200" dirty="0">
              <a:solidFill>
                <a:srgbClr val="000000"/>
              </a:solidFill>
              <a:latin typeface="Garamond" panose="02020404030301010803"/>
            </a:rPr>
          </a:br>
          <a:r>
            <a:rPr lang="en-GB" sz="2000" kern="1200" dirty="0"/>
            <a:t>Normalize when comparing feature importance.</a:t>
          </a:r>
        </a:p>
      </dsp:txBody>
      <dsp:txXfrm>
        <a:off x="3733484" y="2069376"/>
        <a:ext cx="2952049" cy="1771229"/>
      </dsp:txXfrm>
    </dsp:sp>
    <dsp:sp modelId="{604D2430-31C0-46C7-AA07-A110B5A0DD85}">
      <dsp:nvSpPr>
        <dsp:cNvPr id="0" name=""/>
        <dsp:cNvSpPr/>
      </dsp:nvSpPr>
      <dsp:spPr>
        <a:xfrm>
          <a:off x="486230" y="4135810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Conclusion:</a:t>
          </a:r>
          <a:r>
            <a:rPr lang="en-GB" sz="2000" kern="1200" dirty="0"/>
            <a:t> </a:t>
          </a:r>
          <a:br>
            <a:rPr lang="en-GB" sz="2000" kern="1200" dirty="0">
              <a:latin typeface="Garamond" panose="02020404030301010803"/>
            </a:rPr>
          </a:br>
          <a:r>
            <a:rPr lang="en-GB" sz="2000" kern="1200" dirty="0"/>
            <a:t>Use normalization for interpretability, not for accuracy gains.</a:t>
          </a:r>
        </a:p>
      </dsp:txBody>
      <dsp:txXfrm>
        <a:off x="486230" y="4135810"/>
        <a:ext cx="2952049" cy="1771229"/>
      </dsp:txXfrm>
    </dsp:sp>
    <dsp:sp modelId="{05944E46-FE1B-47B9-AA03-30F61FCF13F5}">
      <dsp:nvSpPr>
        <dsp:cNvPr id="0" name=""/>
        <dsp:cNvSpPr/>
      </dsp:nvSpPr>
      <dsp:spPr>
        <a:xfrm>
          <a:off x="3733484" y="4135810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Key takeaway:</a:t>
          </a:r>
          <a:r>
            <a:rPr lang="en-GB" sz="2000" kern="1200" dirty="0"/>
            <a:t> </a:t>
          </a:r>
          <a:br>
            <a:rPr lang="en-GB" sz="2000" kern="1200" dirty="0">
              <a:latin typeface="Garamond" panose="02020404030301010803"/>
            </a:rPr>
          </a:br>
          <a:r>
            <a:rPr lang="en-GB" sz="2000" kern="1200" dirty="0"/>
            <a:t>Normalization ensures fair contribution when new features with very different scales are introduced.</a:t>
          </a:r>
        </a:p>
      </dsp:txBody>
      <dsp:txXfrm>
        <a:off x="3733484" y="4135810"/>
        <a:ext cx="2952049" cy="17712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1DCAAE-594A-4F9D-9472-D768391734E5}">
      <dsp:nvSpPr>
        <dsp:cNvPr id="0" name=""/>
        <dsp:cNvSpPr/>
      </dsp:nvSpPr>
      <dsp:spPr>
        <a:xfrm>
          <a:off x="486230" y="2941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Result:</a:t>
          </a:r>
          <a:r>
            <a:rPr lang="en-GB" sz="2300" kern="1200" dirty="0"/>
            <a:t> </a:t>
          </a:r>
          <a:br>
            <a:rPr lang="en-GB" sz="2300" kern="1200" dirty="0">
              <a:latin typeface="Garamond" panose="02020404030301010803"/>
            </a:rPr>
          </a:br>
          <a:r>
            <a:rPr lang="en-GB" sz="2300" kern="1200" dirty="0"/>
            <a:t>Predictions deviate significantly from actual sales.</a:t>
          </a:r>
          <a:endParaRPr lang="en-GB" sz="2300" kern="1200" dirty="0">
            <a:latin typeface="Garamond" panose="02020404030301010803"/>
          </a:endParaRPr>
        </a:p>
      </dsp:txBody>
      <dsp:txXfrm>
        <a:off x="486230" y="2941"/>
        <a:ext cx="2952049" cy="1771229"/>
      </dsp:txXfrm>
    </dsp:sp>
    <dsp:sp modelId="{E59F27F5-DA7F-4535-BAE4-E8A765571AF8}">
      <dsp:nvSpPr>
        <dsp:cNvPr id="0" name=""/>
        <dsp:cNvSpPr/>
      </dsp:nvSpPr>
      <dsp:spPr>
        <a:xfrm>
          <a:off x="3733484" y="2941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Observation:</a:t>
          </a:r>
          <a:r>
            <a:rPr lang="en-GB" sz="2300" kern="1200" dirty="0"/>
            <a:t> </a:t>
          </a:r>
          <a:br>
            <a:rPr lang="en-GB" sz="2300" kern="1200" dirty="0">
              <a:latin typeface="Garamond" panose="02020404030301010803"/>
            </a:rPr>
          </a:br>
          <a:r>
            <a:rPr lang="en-GB" sz="2300" kern="1200" dirty="0"/>
            <a:t>Model performs poorly without TV.</a:t>
          </a:r>
        </a:p>
      </dsp:txBody>
      <dsp:txXfrm>
        <a:off x="3733484" y="2941"/>
        <a:ext cx="2952049" cy="1771229"/>
      </dsp:txXfrm>
    </dsp:sp>
    <dsp:sp modelId="{F2F490CC-0CC6-4170-999D-81AA900CA8A3}">
      <dsp:nvSpPr>
        <dsp:cNvPr id="0" name=""/>
        <dsp:cNvSpPr/>
      </dsp:nvSpPr>
      <dsp:spPr>
        <a:xfrm>
          <a:off x="486230" y="2069376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Insight:</a:t>
          </a:r>
          <a:r>
            <a:rPr lang="en-GB" sz="2300" kern="1200" dirty="0"/>
            <a:t> </a:t>
          </a:r>
          <a:br>
            <a:rPr lang="en-GB" sz="2300" kern="1200" dirty="0">
              <a:latin typeface="Garamond" panose="02020404030301010803"/>
            </a:rPr>
          </a:br>
          <a:r>
            <a:rPr lang="en-GB" sz="2300" kern="1200" dirty="0"/>
            <a:t>Radio contributes somewhat, Newspaper almost none.</a:t>
          </a:r>
        </a:p>
      </dsp:txBody>
      <dsp:txXfrm>
        <a:off x="486230" y="2069376"/>
        <a:ext cx="2952049" cy="1771229"/>
      </dsp:txXfrm>
    </dsp:sp>
    <dsp:sp modelId="{AD375258-3969-4445-937D-570562410918}">
      <dsp:nvSpPr>
        <dsp:cNvPr id="0" name=""/>
        <dsp:cNvSpPr/>
      </dsp:nvSpPr>
      <dsp:spPr>
        <a:xfrm>
          <a:off x="3733484" y="2069376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Recommendation:</a:t>
          </a:r>
          <a:r>
            <a:rPr lang="en-GB" sz="2300" kern="1200" dirty="0"/>
            <a:t> </a:t>
          </a:r>
          <a:br>
            <a:rPr lang="en-GB" sz="2300" kern="1200" dirty="0">
              <a:latin typeface="Garamond" panose="02020404030301010803"/>
            </a:rPr>
          </a:br>
          <a:r>
            <a:rPr lang="en-GB" sz="2300" kern="1200" dirty="0"/>
            <a:t>Do not rely on Radio + Newspaper alone for predictions.</a:t>
          </a:r>
        </a:p>
      </dsp:txBody>
      <dsp:txXfrm>
        <a:off x="3733484" y="2069376"/>
        <a:ext cx="2952049" cy="1771229"/>
      </dsp:txXfrm>
    </dsp:sp>
    <dsp:sp modelId="{6CCE8682-DDB1-4082-A96C-B770DC416C67}">
      <dsp:nvSpPr>
        <dsp:cNvPr id="0" name=""/>
        <dsp:cNvSpPr/>
      </dsp:nvSpPr>
      <dsp:spPr>
        <a:xfrm>
          <a:off x="486230" y="4135810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Conclusion:</a:t>
          </a:r>
          <a:r>
            <a:rPr lang="en-GB" sz="2300" kern="1200" dirty="0"/>
            <a:t> </a:t>
          </a:r>
          <a:br>
            <a:rPr lang="en-GB" sz="2300" kern="1200" dirty="0">
              <a:latin typeface="Garamond" panose="02020404030301010803"/>
            </a:rPr>
          </a:br>
          <a:r>
            <a:rPr lang="en-GB" sz="2300" kern="1200" dirty="0"/>
            <a:t>TV is essential for accurate sales forecasting.</a:t>
          </a:r>
        </a:p>
      </dsp:txBody>
      <dsp:txXfrm>
        <a:off x="486230" y="4135810"/>
        <a:ext cx="2952049" cy="1771229"/>
      </dsp:txXfrm>
    </dsp:sp>
    <dsp:sp modelId="{CC117C07-5464-4A7A-B31F-9730FA3734D6}">
      <dsp:nvSpPr>
        <dsp:cNvPr id="0" name=""/>
        <dsp:cNvSpPr/>
      </dsp:nvSpPr>
      <dsp:spPr>
        <a:xfrm>
          <a:off x="3733484" y="4135810"/>
          <a:ext cx="2952049" cy="1771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 dirty="0"/>
            <a:t>Key takeaway:</a:t>
          </a:r>
          <a:r>
            <a:rPr lang="en-GB" sz="2300" kern="1200" dirty="0"/>
            <a:t> </a:t>
          </a:r>
          <a:br>
            <a:rPr lang="en-GB" sz="2300" kern="1200" dirty="0">
              <a:latin typeface="Garamond" panose="02020404030301010803"/>
            </a:rPr>
          </a:br>
          <a:r>
            <a:rPr lang="en-GB" sz="2300" kern="1200" dirty="0"/>
            <a:t>The exclusion of TV demonstrates its critical role as the dominant driver of sales.</a:t>
          </a:r>
        </a:p>
      </dsp:txBody>
      <dsp:txXfrm>
        <a:off x="3733484" y="4135810"/>
        <a:ext cx="2952049" cy="1771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4.pn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4.png"/><Relationship Id="rId9" Type="http://schemas.microsoft.com/office/2007/relationships/diagramDrawing" Target="../diagrams/drawing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4.png"/><Relationship Id="rId9" Type="http://schemas.microsoft.com/office/2007/relationships/diagramDrawing" Target="../diagrams/drawing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4.png"/><Relationship Id="rId9" Type="http://schemas.microsoft.com/office/2007/relationships/diagramDrawing" Target="../diagrams/drawing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6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4.png"/><Relationship Id="rId9" Type="http://schemas.microsoft.com/office/2007/relationships/diagramDrawing" Target="../diagrams/drawing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7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4.png"/><Relationship Id="rId9" Type="http://schemas.microsoft.com/office/2007/relationships/diagramDrawing" Target="../diagrams/drawing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image" Target="../media/image4.png"/><Relationship Id="rId9" Type="http://schemas.microsoft.com/office/2007/relationships/diagramDrawing" Target="../diagrams/drawin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14F7DB2-2747-44B1-8CCD-EA4CF6EAB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B274392-2BAA-4EFD-A7A4-941ABF7B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4E9F97B-B428-4C46-8004-BC4A40DEF3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6C42F04-DEA1-45C3-9F84-8B1652F9C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A860151-6D39-4EDD-99B8-908690A0D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02D87C-1E23-4B24-AFE6-A85743C72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B7C4858-FAA3-4226-A856-193A01910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C1B503-0291-4E82-A65E-72D604D9F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3F836C5-9601-4982-A121-CCA49BF7B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bg2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CD0D05-FF47-4ABB-841C-0600CADC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1A5282-45E4-6941-DAC8-A1A76BC8199B}"/>
              </a:ext>
            </a:extLst>
          </p:cNvPr>
          <p:cNvSpPr txBox="1"/>
          <p:nvPr/>
        </p:nvSpPr>
        <p:spPr>
          <a:xfrm>
            <a:off x="824735" y="1929974"/>
            <a:ext cx="3345215" cy="36625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ptos"/>
                <a:ea typeface="+mn-lt"/>
                <a:cs typeface="+mn-lt"/>
              </a:rPr>
              <a:t>Comprehensive Analysis -</a:t>
            </a:r>
            <a:endParaRPr lang="en-US" sz="3200" b="1" dirty="0">
              <a:solidFill>
                <a:schemeClr val="bg1"/>
              </a:solidFill>
              <a:latin typeface="Aptos"/>
              <a:ea typeface="+mn-lt"/>
              <a:cs typeface="+mn-lt"/>
            </a:endParaRPr>
          </a:p>
          <a:p>
            <a:r>
              <a:rPr lang="en-US" sz="3200" dirty="0">
                <a:solidFill>
                  <a:schemeClr val="bg1"/>
                </a:solidFill>
                <a:latin typeface="Aptos"/>
                <a:ea typeface="Calibri"/>
                <a:cs typeface="Calibri"/>
              </a:rPr>
              <a:t>Sales Prediction Dataset Analysis</a:t>
            </a:r>
            <a:endParaRPr lang="en-GB" sz="3200" dirty="0" err="1">
              <a:solidFill>
                <a:schemeClr val="bg1"/>
              </a:solidFill>
              <a:latin typeface="Aptos"/>
            </a:endParaRPr>
          </a:p>
          <a:p>
            <a:endParaRPr lang="en-GB" sz="3200" b="1" dirty="0">
              <a:latin typeface="Aptos"/>
              <a:ea typeface="+mn-lt"/>
              <a:cs typeface="+mn-lt"/>
            </a:endParaRPr>
          </a:p>
          <a:p>
            <a:br>
              <a:rPr lang="en-GB" sz="3200" b="1" dirty="0">
                <a:latin typeface="Aptos"/>
                <a:ea typeface="+mn-lt"/>
                <a:cs typeface="+mn-lt"/>
              </a:rPr>
            </a:br>
            <a:endParaRPr lang="en-GB" sz="2000">
              <a:solidFill>
                <a:schemeClr val="bg1"/>
              </a:solidFill>
              <a:latin typeface="Aptos"/>
            </a:endParaRPr>
          </a:p>
          <a:p>
            <a:endParaRPr lang="en-GB" sz="2000" dirty="0">
              <a:solidFill>
                <a:schemeClr val="bg1"/>
              </a:solidFill>
              <a:latin typeface="Aptos"/>
              <a:ea typeface="+mn-lt"/>
              <a:cs typeface="+mn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83ADD3-24B6-A5A2-1A91-7D385FD7581A}"/>
              </a:ext>
            </a:extLst>
          </p:cNvPr>
          <p:cNvSpPr/>
          <p:nvPr/>
        </p:nvSpPr>
        <p:spPr>
          <a:xfrm>
            <a:off x="5149023" y="4969650"/>
            <a:ext cx="6492861" cy="108098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5C458-4053-6D06-1BB1-FEDC7266AF45}"/>
              </a:ext>
            </a:extLst>
          </p:cNvPr>
          <p:cNvSpPr txBox="1"/>
          <p:nvPr/>
        </p:nvSpPr>
        <p:spPr>
          <a:xfrm>
            <a:off x="5366411" y="5248525"/>
            <a:ext cx="604839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b="1" dirty="0">
                <a:latin typeface="Aptos"/>
              </a:rPr>
              <a:t>Prepared By : Adithya Vipin</a:t>
            </a:r>
            <a:endParaRPr lang="en-US" b="1"/>
          </a:p>
        </p:txBody>
      </p:sp>
      <p:pic>
        <p:nvPicPr>
          <p:cNvPr id="8" name="Picture 7" descr="Introduction To Data Analysis | Emory Continuing Education">
            <a:extLst>
              <a:ext uri="{FF2B5EF4-FFF2-40B4-BE49-F238E27FC236}">
                <a16:creationId xmlns:a16="http://schemas.microsoft.com/office/drawing/2014/main" id="{966D41DD-23CC-24F9-B7C8-579725507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2373" y="630626"/>
            <a:ext cx="6532321" cy="369696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766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B72BDED-A7DF-AA5E-B2BC-B0C12C0BDEC0}"/>
              </a:ext>
            </a:extLst>
          </p:cNvPr>
          <p:cNvSpPr txBox="1">
            <a:spLocks/>
          </p:cNvSpPr>
          <p:nvPr/>
        </p:nvSpPr>
        <p:spPr>
          <a:xfrm>
            <a:off x="1295402" y="721158"/>
            <a:ext cx="9601196" cy="1303867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b="1" u="sng" dirty="0">
                <a:latin typeface="Aptos Display"/>
                <a:ea typeface="+mj-lt"/>
                <a:cs typeface="+mj-lt"/>
              </a:rPr>
              <a:t>Objectives of the Analysis</a:t>
            </a:r>
            <a:endParaRPr lang="en-US" b="1" dirty="0">
              <a:latin typeface="Aptos Display"/>
              <a:ea typeface="+mj-lt"/>
              <a:cs typeface="+mj-lt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990FDF-2171-D5E4-46A7-87F7EA34CE20}"/>
              </a:ext>
            </a:extLst>
          </p:cNvPr>
          <p:cNvCxnSpPr/>
          <p:nvPr/>
        </p:nvCxnSpPr>
        <p:spPr>
          <a:xfrm>
            <a:off x="913372" y="1521274"/>
            <a:ext cx="10374678" cy="1400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ACE5F67-95FC-F354-3AC9-570ED5C6FA60}"/>
              </a:ext>
            </a:extLst>
          </p:cNvPr>
          <p:cNvSpPr txBox="1"/>
          <p:nvPr/>
        </p:nvSpPr>
        <p:spPr>
          <a:xfrm>
            <a:off x="1852015" y="2334582"/>
            <a:ext cx="4590910" cy="27649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17" name="TextBox 166">
            <a:extLst>
              <a:ext uri="{FF2B5EF4-FFF2-40B4-BE49-F238E27FC236}">
                <a16:creationId xmlns:a16="http://schemas.microsoft.com/office/drawing/2014/main" id="{1E1BCCB5-470E-59A5-0E6A-30365E1BF2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7827010"/>
              </p:ext>
            </p:extLst>
          </p:nvPr>
        </p:nvGraphicFramePr>
        <p:xfrm>
          <a:off x="758727" y="1532498"/>
          <a:ext cx="6463526" cy="4694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0" name="Picture 229" descr="Introduction To Data Analysis | Emory Continuing Education">
            <a:extLst>
              <a:ext uri="{FF2B5EF4-FFF2-40B4-BE49-F238E27FC236}">
                <a16:creationId xmlns:a16="http://schemas.microsoft.com/office/drawing/2014/main" id="{4480B78F-D483-CB7F-8B96-568E39C1A3C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3871" r="161" b="-282"/>
          <a:stretch>
            <a:fillRect/>
          </a:stretch>
        </p:blipFill>
        <p:spPr>
          <a:xfrm>
            <a:off x="7402606" y="1883229"/>
            <a:ext cx="3887199" cy="398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85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CA0039-61AA-530C-A47E-B9D2D9BBE560}"/>
              </a:ext>
            </a:extLst>
          </p:cNvPr>
          <p:cNvSpPr txBox="1"/>
          <p:nvPr/>
        </p:nvSpPr>
        <p:spPr>
          <a:xfrm>
            <a:off x="1276625" y="1349439"/>
            <a:ext cx="9986131" cy="85254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2000" b="1" dirty="0">
              <a:latin typeface="Aptos Display"/>
            </a:endParaRPr>
          </a:p>
          <a:p>
            <a:r>
              <a:rPr lang="en-US" sz="2000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The dataset consists of </a:t>
            </a:r>
            <a:r>
              <a:rPr lang="en-US" sz="2000" b="1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200 advertising campaigns</a:t>
            </a:r>
            <a:r>
              <a:rPr lang="en-US" sz="2000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, each recording expenditure across three media channels (</a:t>
            </a:r>
            <a:r>
              <a:rPr lang="en-US" sz="2000" b="1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TV, Radio, and Newspaper</a:t>
            </a:r>
            <a:r>
              <a:rPr lang="en-US" sz="2000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) along with the corresponding sales figures.</a:t>
            </a:r>
            <a:endParaRPr lang="en-US" sz="2000" dirty="0">
              <a:latin typeface="Aptos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TV Advertising</a:t>
            </a:r>
            <a:r>
              <a:rPr lang="en-US" sz="2000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: Represents the amount spent on television promotions. This is the largest expenditure category and shows the strongest relationship with sales.</a:t>
            </a:r>
            <a:endParaRPr lang="en-US" sz="2000" dirty="0">
              <a:latin typeface="Aptos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Radio Advertising</a:t>
            </a:r>
            <a:r>
              <a:rPr lang="en-US" sz="2000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: Captures spending on radio ads, which has a moderate positive effect on sales.</a:t>
            </a:r>
            <a:endParaRPr lang="en-US" sz="2000" dirty="0">
              <a:latin typeface="Aptos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Newspaper Advertising</a:t>
            </a:r>
            <a:r>
              <a:rPr lang="en-US" sz="2000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: Tracks spending on newspaper ads, which contributes very little to sales.</a:t>
            </a:r>
            <a:endParaRPr lang="en-US" sz="2000" dirty="0">
              <a:latin typeface="Aptos Display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Sales</a:t>
            </a:r>
            <a:r>
              <a:rPr lang="en-US" sz="2000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: Indicates the number of product units sold corresponding to the given advertising expenditures.</a:t>
            </a:r>
            <a:endParaRPr lang="en-US" sz="2000" dirty="0">
              <a:latin typeface="Aptos Display"/>
            </a:endParaRPr>
          </a:p>
          <a:p>
            <a:r>
              <a:rPr lang="en-US" sz="2000" b="1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Data quality checks</a:t>
            </a:r>
            <a:r>
              <a:rPr lang="en-US" sz="2000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 revealed two missing values in the Radio column, which were imputed using the mean. After cleaning, the dataset had no missing values or duplicates.</a:t>
            </a:r>
            <a:endParaRPr lang="en-US" sz="2000">
              <a:latin typeface="Aptos Display"/>
            </a:endParaRPr>
          </a:p>
          <a:p>
            <a:r>
              <a:rPr lang="en-US" sz="2000" dirty="0">
                <a:solidFill>
                  <a:srgbClr val="262626"/>
                </a:solidFill>
                <a:latin typeface="Aptos Display"/>
                <a:ea typeface="+mn-lt"/>
                <a:cs typeface="+mn-lt"/>
              </a:rPr>
              <a:t>Overall, this dataset provides a structured basis for examining how advertising investments across different media channels impact product sales and for building predictive models.</a:t>
            </a:r>
            <a:endParaRPr lang="en-US" sz="2000" dirty="0">
              <a:latin typeface="Aptos Display"/>
            </a:endParaRPr>
          </a:p>
          <a:p>
            <a:endParaRPr lang="en-US" sz="2400" dirty="0">
              <a:solidFill>
                <a:srgbClr val="262626"/>
              </a:solidFill>
              <a:latin typeface="Aptos Display"/>
            </a:endParaRPr>
          </a:p>
          <a:p>
            <a:endParaRPr lang="en-US" b="1" dirty="0">
              <a:solidFill>
                <a:srgbClr val="262626"/>
              </a:solidFill>
              <a:latin typeface="Garamond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rgbClr val="262626"/>
              </a:solidFill>
              <a:latin typeface="Aptos"/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262626"/>
              </a:solidFill>
            </a:endParaRPr>
          </a:p>
          <a:p>
            <a:endParaRPr lang="en-US" sz="2400" b="1" dirty="0">
              <a:solidFill>
                <a:srgbClr val="262626"/>
              </a:solidFill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62626"/>
              </a:solidFill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62626"/>
              </a:solidFill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62626"/>
              </a:solidFill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62626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B72BDED-A7DF-AA5E-B2BC-B0C12C0BDEC0}"/>
              </a:ext>
            </a:extLst>
          </p:cNvPr>
          <p:cNvSpPr txBox="1">
            <a:spLocks/>
          </p:cNvSpPr>
          <p:nvPr/>
        </p:nvSpPr>
        <p:spPr>
          <a:xfrm>
            <a:off x="1274525" y="813378"/>
            <a:ext cx="9601196" cy="1303867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b="1" u="sng" dirty="0">
                <a:latin typeface="Aptos Display"/>
              </a:rPr>
              <a:t>DATASET OVERVIEW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4990FDF-2171-D5E4-46A7-87F7EA34CE20}"/>
              </a:ext>
            </a:extLst>
          </p:cNvPr>
          <p:cNvCxnSpPr/>
          <p:nvPr/>
        </p:nvCxnSpPr>
        <p:spPr>
          <a:xfrm>
            <a:off x="902934" y="1515910"/>
            <a:ext cx="10374678" cy="14007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78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971787-B6AF-95F2-A944-D74573E0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EC7E22FD-D7B4-423A-7103-6916A0354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D24F87D8-AD74-5F34-C0B5-17C4431F5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FB6A754-0342-996D-8E0B-698C17B65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5635503B-FF90-0C82-B5C5-F45491C79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1944526C-5875-2B91-9366-7AB2617D2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F1461ED7-8CCA-A996-81B0-05805B7CD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4A5AF647-1027-6852-4E78-F96EC7CF6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4608AB1-91A6-3501-FA31-27A1BBE3E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B3496EE-091A-E6CC-1B72-771EAAE80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B8999-2D6F-1991-34C2-4981E5F3843F}"/>
              </a:ext>
            </a:extLst>
          </p:cNvPr>
          <p:cNvSpPr txBox="1"/>
          <p:nvPr/>
        </p:nvSpPr>
        <p:spPr>
          <a:xfrm>
            <a:off x="952108" y="1604697"/>
            <a:ext cx="2730414" cy="494600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n w="3175" cmpd="sng">
                  <a:noFill/>
                </a:ln>
                <a:solidFill>
                  <a:srgbClr val="FFFFFF"/>
                </a:solidFill>
                <a:latin typeface="Aptos Display"/>
                <a:ea typeface="+mj-ea"/>
                <a:cs typeface="+mj-cs"/>
              </a:rPr>
              <a:t>1</a:t>
            </a:r>
            <a:endParaRPr lang="en-US" sz="5400" b="1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n-lt"/>
              <a:cs typeface="+mn-lt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2800" b="1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n-lt"/>
              <a:cs typeface="+mn-lt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n w="3175" cmpd="sng">
                  <a:noFill/>
                </a:ln>
                <a:solidFill>
                  <a:srgbClr val="FFFFFF"/>
                </a:solidFill>
                <a:latin typeface="Aptos Display"/>
                <a:ea typeface="+mn-lt"/>
                <a:cs typeface="+mn-lt"/>
              </a:rPr>
              <a:t>Average TV Spend</a:t>
            </a:r>
            <a:endParaRPr lang="en-US" b="1">
              <a:latin typeface="Aptos Display"/>
              <a:ea typeface="+mn-lt"/>
              <a:cs typeface="+mn-lt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200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n-lt"/>
              <a:cs typeface="+mn-lt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n w="3175" cmpd="sng">
                  <a:noFill/>
                </a:ln>
                <a:solidFill>
                  <a:srgbClr val="FFFFFF"/>
                </a:solidFill>
                <a:latin typeface="Aptos Display"/>
                <a:ea typeface="+mn-lt"/>
                <a:cs typeface="+mn-lt"/>
              </a:rPr>
              <a:t>We analyzed the average amount spent on TV advertising in the dataset.</a:t>
            </a:r>
            <a:endParaRPr lang="en-US" dirty="0">
              <a:latin typeface="Aptos Display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600" b="1" dirty="0">
              <a:ln w="3175" cmpd="sng">
                <a:noFill/>
              </a:ln>
              <a:solidFill>
                <a:srgbClr val="FFFFFF"/>
              </a:solidFill>
              <a:latin typeface="Aptos"/>
              <a:ea typeface="+mj-ea"/>
              <a:cs typeface="+mj-cs"/>
            </a:endParaRPr>
          </a:p>
          <a:p>
            <a:pPr algn="ctr"/>
            <a:endParaRPr lang="en-US" sz="2000" b="1" dirty="0">
              <a:solidFill>
                <a:schemeClr val="bg1"/>
              </a:solidFill>
              <a:latin typeface="Aptos"/>
              <a:ea typeface="+mj-ea"/>
              <a:cs typeface="+mj-cs"/>
            </a:endParaRPr>
          </a:p>
          <a:p>
            <a:pPr marL="285750" indent="-285750" algn="ctr">
              <a:buFont typeface="Arial"/>
              <a:buChar char="•"/>
            </a:pPr>
            <a:endParaRPr lang="en-US"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ln w="3175" cmpd="sng">
                <a:noFill/>
              </a:ln>
              <a:solidFill>
                <a:srgbClr val="FFFFFF"/>
              </a:solidFill>
              <a:ea typeface="+mj-ea"/>
              <a:cs typeface="+mj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0FCAF45-2066-ED93-2BED-E3950747B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79D0859-679D-A9D1-F2C2-0ACC2DA01D03}"/>
              </a:ext>
            </a:extLst>
          </p:cNvPr>
          <p:cNvGraphicFramePr/>
          <p:nvPr/>
        </p:nvGraphicFramePr>
        <p:xfrm>
          <a:off x="4840940" y="445994"/>
          <a:ext cx="7171764" cy="5909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176911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89A7FF-A8CC-F8F6-9EEB-26AA5BFD2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A9C050D6-5405-1C9A-9BAC-AE252BA5F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3924FE5E-C503-AC04-A937-549DF7CCF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F22B9F7-787C-180D-2C33-07A43F227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CA50DDAA-2829-84F5-5657-D5BDB06E0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E75D3358-0686-D6FD-704E-269C33CA5C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5364AB5-0080-CC5C-257E-D4184F7B3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268088FD-E765-B7F6-0C06-120738486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96CB8DB-BE9D-91F2-911F-AA61A6AEA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32F2720-B0D6-5D60-73E7-F658DF51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47B148-5F86-ACFF-493F-51AA79AE097E}"/>
              </a:ext>
            </a:extLst>
          </p:cNvPr>
          <p:cNvSpPr txBox="1"/>
          <p:nvPr/>
        </p:nvSpPr>
        <p:spPr>
          <a:xfrm>
            <a:off x="952108" y="1907256"/>
            <a:ext cx="2730414" cy="494600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n w="3175" cmpd="sng">
                  <a:noFill/>
                </a:ln>
                <a:solidFill>
                  <a:srgbClr val="FFFFFF"/>
                </a:solidFill>
                <a:latin typeface="Aptos Display"/>
                <a:ea typeface="+mj-ea"/>
                <a:cs typeface="+mj-cs"/>
              </a:rPr>
              <a:t>2</a:t>
            </a:r>
            <a:endParaRPr lang="en-US" sz="5400" b="1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n-lt"/>
              <a:cs typeface="+mn-lt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2800" b="1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n-lt"/>
              <a:cs typeface="+mn-lt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n w="3175" cmpd="sng">
                  <a:noFill/>
                </a:ln>
                <a:solidFill>
                  <a:srgbClr val="FFFFFF"/>
                </a:solidFill>
                <a:latin typeface="Aptos Display"/>
                <a:ea typeface="+mn-lt"/>
                <a:cs typeface="+mn-lt"/>
              </a:rPr>
              <a:t>Correlation of Radio and Sales</a:t>
            </a:r>
            <a:endParaRPr lang="en-US" b="1">
              <a:latin typeface="Aptos Display"/>
              <a:ea typeface="+mn-lt"/>
              <a:cs typeface="+mn-lt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2800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n-lt"/>
              <a:cs typeface="+mn-lt"/>
            </a:endParaRPr>
          </a:p>
          <a:p>
            <a:pPr algn="ctr"/>
            <a:r>
              <a:rPr lang="en-US" sz="2400" dirty="0">
                <a:ln w="3175" cmpd="sng">
                  <a:noFill/>
                </a:ln>
                <a:solidFill>
                  <a:srgbClr val="FFFFFF"/>
                </a:solidFill>
                <a:latin typeface="Aptos Display"/>
                <a:ea typeface="+mn-lt"/>
                <a:cs typeface="+mn-lt"/>
              </a:rPr>
              <a:t>We explored the correlation between radio advertising and sales.</a:t>
            </a:r>
            <a:endParaRPr lang="en-US" dirty="0">
              <a:latin typeface="Aptos Display"/>
            </a:endParaRPr>
          </a:p>
          <a:p>
            <a:pPr marL="285750" indent="-285750" algn="ctr">
              <a:buFont typeface="Arial"/>
              <a:buChar char="•"/>
            </a:pPr>
            <a:endParaRPr lang="en-US"/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2800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600" b="1" dirty="0">
              <a:ln w="3175" cmpd="sng">
                <a:noFill/>
              </a:ln>
              <a:solidFill>
                <a:srgbClr val="FFFFFF"/>
              </a:solidFill>
              <a:latin typeface="Aptos"/>
              <a:ea typeface="+mj-ea"/>
              <a:cs typeface="+mj-cs"/>
            </a:endParaRPr>
          </a:p>
          <a:p>
            <a:pPr algn="ctr"/>
            <a:endParaRPr lang="en-US" sz="2000" b="1" dirty="0">
              <a:solidFill>
                <a:schemeClr val="bg1"/>
              </a:solidFill>
              <a:latin typeface="Aptos"/>
              <a:ea typeface="+mj-ea"/>
              <a:cs typeface="+mj-cs"/>
            </a:endParaRPr>
          </a:p>
          <a:p>
            <a:pPr marL="285750" indent="-285750" algn="ctr">
              <a:buFont typeface="Arial"/>
              <a:buChar char="•"/>
            </a:pPr>
            <a:endParaRPr lang="en-US"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ln w="3175" cmpd="sng">
                <a:noFill/>
              </a:ln>
              <a:solidFill>
                <a:srgbClr val="FFFFFF"/>
              </a:solidFill>
              <a:ea typeface="+mj-ea"/>
              <a:cs typeface="+mj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FC3BC11-0705-2872-34F0-A653CA9C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1BD7985-F634-3A8C-7B55-125C332BC79A}"/>
              </a:ext>
            </a:extLst>
          </p:cNvPr>
          <p:cNvGraphicFramePr/>
          <p:nvPr/>
        </p:nvGraphicFramePr>
        <p:xfrm>
          <a:off x="4840940" y="445994"/>
          <a:ext cx="7171764" cy="5909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97562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52F2D-4FC3-2F43-4638-FFCFF02D2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1BDBABE0-D988-C489-DA50-E1212CCE7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E997541-FF18-8C62-7C4E-4D1BA6A83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0CA6402-4BFB-6C6E-74C2-8E07F67515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DFADBD95-B0DA-92CD-DA54-E23901DB7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8AFC8D55-81A0-2708-6C9C-39D35187C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5473D8D-1F9E-CBC0-FB9C-B78521CFE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A492727-6C09-C851-6A6C-BC45DC3D9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F0ED239-F992-E6C6-4403-67D77BF7E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AC504EC-6BC9-7A6F-AFFA-68FFD2378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BF923-4725-E761-692F-98621F65854A}"/>
              </a:ext>
            </a:extLst>
          </p:cNvPr>
          <p:cNvSpPr txBox="1"/>
          <p:nvPr/>
        </p:nvSpPr>
        <p:spPr>
          <a:xfrm>
            <a:off x="952108" y="1907256"/>
            <a:ext cx="2730414" cy="494600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n w="3175" cmpd="sng">
                  <a:noFill/>
                </a:ln>
                <a:solidFill>
                  <a:srgbClr val="FFFFFF"/>
                </a:solidFill>
                <a:latin typeface="Aptos Display"/>
                <a:ea typeface="+mj-ea"/>
                <a:cs typeface="+mj-cs"/>
              </a:rPr>
              <a:t>3</a:t>
            </a:r>
            <a:endParaRPr lang="en-US" sz="5400" b="1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n-lt"/>
              <a:cs typeface="+mn-lt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2800" b="1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n-lt"/>
              <a:cs typeface="+mn-lt"/>
            </a:endParaRP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Highest Impact Advertising Medium</a:t>
            </a:r>
            <a:endParaRPr lang="en-US" b="1" dirty="0">
              <a:solidFill>
                <a:schemeClr val="bg1"/>
              </a:solidFill>
              <a:latin typeface="Aptos Display"/>
              <a:ea typeface="+mj-ea"/>
              <a:cs typeface="+mj-cs"/>
            </a:endParaRPr>
          </a:p>
          <a:p>
            <a:pPr algn="ctr"/>
            <a:endParaRPr lang="en-US" sz="2800" b="1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ctr"/>
            <a:r>
              <a:rPr lang="en-US" sz="2400" dirty="0">
                <a:ln w="3175" cmpd="sng">
                  <a:noFill/>
                </a:ln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We identified which advertising medium most influences sales.</a:t>
            </a:r>
            <a:endParaRPr lang="en-US" dirty="0">
              <a:solidFill>
                <a:schemeClr val="bg1"/>
              </a:solidFill>
              <a:latin typeface="Aptos Display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2800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600" b="1" dirty="0">
              <a:ln w="3175" cmpd="sng">
                <a:noFill/>
              </a:ln>
              <a:solidFill>
                <a:srgbClr val="FFFFFF"/>
              </a:solidFill>
              <a:latin typeface="Aptos"/>
              <a:ea typeface="+mj-ea"/>
              <a:cs typeface="+mj-cs"/>
            </a:endParaRPr>
          </a:p>
          <a:p>
            <a:pPr algn="ctr"/>
            <a:endParaRPr lang="en-US" sz="2000" b="1" dirty="0">
              <a:solidFill>
                <a:schemeClr val="bg1"/>
              </a:solidFill>
              <a:latin typeface="Aptos"/>
              <a:ea typeface="+mj-ea"/>
              <a:cs typeface="+mj-cs"/>
            </a:endParaRPr>
          </a:p>
          <a:p>
            <a:pPr marL="285750" indent="-285750" algn="ctr">
              <a:buFont typeface="Arial"/>
              <a:buChar char="•"/>
            </a:pPr>
            <a:endParaRPr lang="en-US"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ln w="3175" cmpd="sng">
                <a:noFill/>
              </a:ln>
              <a:solidFill>
                <a:srgbClr val="FFFFFF"/>
              </a:solidFill>
              <a:ea typeface="+mj-ea"/>
              <a:cs typeface="+mj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FE50C6D-23EC-C2AE-2A95-69AE4F5B7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AE7822C-7445-794D-CD03-E7A69619379C}"/>
              </a:ext>
            </a:extLst>
          </p:cNvPr>
          <p:cNvGraphicFramePr/>
          <p:nvPr/>
        </p:nvGraphicFramePr>
        <p:xfrm>
          <a:off x="4840940" y="445994"/>
          <a:ext cx="7171764" cy="5909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711343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04331-1FEE-8104-799F-22D62834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A91EFCE0-43D7-C30F-6027-6F8E78442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3E260BA7-7901-EE31-CDB3-1A4508CFE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7D78128-A0DC-0532-A30E-CF3EF966F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15B94891-F2A5-3F2C-4268-DF69991554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C5098FBF-CCC7-25F1-240B-AFFBB4498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C66399A-3FB8-130E-B8C8-5D28DC10A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555B2B87-D1D2-3490-7C74-6B1AC19DB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9DEAB7E-347A-2421-A113-28970242F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017B6D9-9780-CA4C-4131-805576CB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572B34-A442-F2BE-9398-7256949313F9}"/>
              </a:ext>
            </a:extLst>
          </p:cNvPr>
          <p:cNvSpPr txBox="1"/>
          <p:nvPr/>
        </p:nvSpPr>
        <p:spPr>
          <a:xfrm>
            <a:off x="952108" y="1907256"/>
            <a:ext cx="2730414" cy="494600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n w="3175" cmpd="sng">
                  <a:noFill/>
                </a:ln>
                <a:solidFill>
                  <a:srgbClr val="FFFFFF"/>
                </a:solidFill>
                <a:latin typeface="Aptos Display"/>
                <a:ea typeface="+mj-ea"/>
                <a:cs typeface="+mj-cs"/>
              </a:rPr>
              <a:t>4</a:t>
            </a:r>
            <a:endParaRPr lang="en-US" sz="5400" b="1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n-lt"/>
              <a:cs typeface="+mn-lt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2800" b="1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n-lt"/>
              <a:cs typeface="+mn-lt"/>
            </a:endParaRP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Regression Model Fit (All Variables)</a:t>
            </a:r>
            <a:endParaRPr lang="en-US" b="1" dirty="0">
              <a:solidFill>
                <a:schemeClr val="bg1"/>
              </a:solidFill>
              <a:latin typeface="Aptos Display"/>
              <a:ea typeface="+mj-ea"/>
              <a:cs typeface="+mj-cs"/>
            </a:endParaRPr>
          </a:p>
          <a:p>
            <a:pPr algn="ctr"/>
            <a:endParaRPr lang="en-US" sz="28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ctr"/>
            <a:r>
              <a:rPr lang="en-US" sz="2400" dirty="0">
                <a:ln w="3175" cmpd="sng">
                  <a:noFill/>
                </a:ln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We tested multiple linear regression with all predictors.</a:t>
            </a:r>
            <a:endParaRPr lang="en-US" dirty="0">
              <a:solidFill>
                <a:schemeClr val="bg1"/>
              </a:solidFill>
              <a:latin typeface="Aptos Display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2800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600" b="1" dirty="0">
              <a:ln w="3175" cmpd="sng">
                <a:noFill/>
              </a:ln>
              <a:solidFill>
                <a:srgbClr val="FFFFFF"/>
              </a:solidFill>
              <a:latin typeface="Aptos"/>
              <a:ea typeface="+mj-ea"/>
              <a:cs typeface="+mj-cs"/>
            </a:endParaRPr>
          </a:p>
          <a:p>
            <a:pPr algn="ctr"/>
            <a:endParaRPr lang="en-US" sz="2000" b="1" dirty="0">
              <a:solidFill>
                <a:schemeClr val="bg1"/>
              </a:solidFill>
              <a:latin typeface="Aptos"/>
              <a:ea typeface="+mj-ea"/>
              <a:cs typeface="+mj-cs"/>
            </a:endParaRPr>
          </a:p>
          <a:p>
            <a:pPr marL="285750" indent="-285750" algn="ctr">
              <a:buFont typeface="Arial"/>
              <a:buChar char="•"/>
            </a:pPr>
            <a:endParaRPr lang="en-US"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ln w="3175" cmpd="sng">
                <a:noFill/>
              </a:ln>
              <a:solidFill>
                <a:srgbClr val="FFFFFF"/>
              </a:solidFill>
              <a:ea typeface="+mj-ea"/>
              <a:cs typeface="+mj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822B909-64D7-A848-97CE-8D1DBD4D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EA996F0-AA5C-333F-C974-98AB79314789}"/>
              </a:ext>
            </a:extLst>
          </p:cNvPr>
          <p:cNvGraphicFramePr/>
          <p:nvPr/>
        </p:nvGraphicFramePr>
        <p:xfrm>
          <a:off x="4840940" y="445994"/>
          <a:ext cx="7171764" cy="5909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763735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DC669-DBFA-7E68-D48C-F08AA6D72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42E3D1CF-6532-346C-FE46-4F3C2A017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50D6290C-A365-C5DE-D53C-885F55BED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85A1D87-D0C0-28BE-19D2-CE1A1C3C0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83CAEB0D-F0CF-21E5-2852-366AAB148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C3CC9290-E19B-C81E-24CD-155C26B494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A7F331C-9581-354A-B482-23966FB96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B456D0DD-5129-238E-707D-8D9AFADC2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C14D1BD-E796-3641-2521-C6BFD6E66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50A1928-0597-1ADD-B71B-A8A7F90F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3C0846-0B19-95E3-CFC7-DFC70894D0F4}"/>
              </a:ext>
            </a:extLst>
          </p:cNvPr>
          <p:cNvSpPr txBox="1"/>
          <p:nvPr/>
        </p:nvSpPr>
        <p:spPr>
          <a:xfrm>
            <a:off x="952108" y="1907256"/>
            <a:ext cx="2730414" cy="494600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n w="3175" cmpd="sng">
                  <a:noFill/>
                </a:ln>
                <a:solidFill>
                  <a:srgbClr val="FFFFFF"/>
                </a:solidFill>
                <a:latin typeface="Aptos Display"/>
                <a:ea typeface="+mn-lt"/>
                <a:cs typeface="+mn-lt"/>
              </a:rPr>
              <a:t>5</a:t>
            </a: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2800" b="1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n-lt"/>
              <a:cs typeface="+mn-lt"/>
            </a:endParaRPr>
          </a:p>
          <a:p>
            <a:pPr algn="ctr"/>
            <a:r>
              <a:rPr lang="en-US" sz="3000" b="1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Predicting New Expenditures</a:t>
            </a:r>
            <a:endParaRPr lang="en-US" b="1" dirty="0">
              <a:solidFill>
                <a:schemeClr val="bg1"/>
              </a:solidFill>
              <a:latin typeface="Aptos Display"/>
              <a:ea typeface="+mj-ea"/>
              <a:cs typeface="+mj-cs"/>
            </a:endParaRPr>
          </a:p>
          <a:p>
            <a:pPr algn="ctr"/>
            <a:endParaRPr lang="en-US" sz="28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ctr"/>
            <a:r>
              <a:rPr lang="en-US" sz="2800" dirty="0">
                <a:ln w="3175" cmpd="sng">
                  <a:noFill/>
                </a:ln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We predicted sales for TV=200, Radio=40, Newspaper=50.</a:t>
            </a:r>
            <a:endParaRPr lang="en-US" dirty="0">
              <a:solidFill>
                <a:schemeClr val="bg1"/>
              </a:solidFill>
              <a:latin typeface="Aptos Display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2800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600" b="1" dirty="0">
              <a:ln w="3175" cmpd="sng">
                <a:noFill/>
              </a:ln>
              <a:solidFill>
                <a:srgbClr val="FFFFFF"/>
              </a:solidFill>
              <a:latin typeface="Aptos"/>
              <a:ea typeface="+mj-ea"/>
              <a:cs typeface="+mj-cs"/>
            </a:endParaRPr>
          </a:p>
          <a:p>
            <a:pPr algn="ctr"/>
            <a:endParaRPr lang="en-US" sz="2000" b="1" dirty="0">
              <a:solidFill>
                <a:schemeClr val="bg1"/>
              </a:solidFill>
              <a:latin typeface="Aptos"/>
              <a:ea typeface="+mj-ea"/>
              <a:cs typeface="+mj-cs"/>
            </a:endParaRPr>
          </a:p>
          <a:p>
            <a:pPr marL="285750" indent="-285750" algn="ctr">
              <a:buFont typeface="Arial"/>
              <a:buChar char="•"/>
            </a:pPr>
            <a:endParaRPr lang="en-US"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ln w="3175" cmpd="sng">
                <a:noFill/>
              </a:ln>
              <a:solidFill>
                <a:srgbClr val="FFFFFF"/>
              </a:solidFill>
              <a:ea typeface="+mj-ea"/>
              <a:cs typeface="+mj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353EE37-E690-4B7D-9FEB-CE4C47B81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0C0628F-3B33-BB0B-A70D-7151A762A1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1729676"/>
              </p:ext>
            </p:extLst>
          </p:nvPr>
        </p:nvGraphicFramePr>
        <p:xfrm>
          <a:off x="4840940" y="310295"/>
          <a:ext cx="7171764" cy="5909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924031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F0D14-1394-EB82-A81F-41F11E8FD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51F039CB-F583-3F71-C536-62F05752B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5DA6A32B-7A3C-C9BD-6C3E-06567C00B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6A69D85-7667-03CF-04D1-B029A88497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BC917EA7-3C4E-3E54-11CD-6A0E166ED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722226A5-6203-EDEB-08DE-68F424951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D7D94D4-A275-4A41-5B46-E33BD5C47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7FD79753-9689-A40A-C9FE-68D09BF9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1C15139-2D5D-DE58-D841-7B05B0C40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6544CBA-E652-C182-4102-AF91F23E9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A9478-0CE8-55BD-764B-B4A7F084C984}"/>
              </a:ext>
            </a:extLst>
          </p:cNvPr>
          <p:cNvSpPr txBox="1"/>
          <p:nvPr/>
        </p:nvSpPr>
        <p:spPr>
          <a:xfrm>
            <a:off x="952108" y="1907256"/>
            <a:ext cx="2730414" cy="494600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n w="3175" cmpd="sng">
                  <a:noFill/>
                </a:ln>
                <a:solidFill>
                  <a:srgbClr val="FFFFFF"/>
                </a:solidFill>
                <a:latin typeface="Aptos Display"/>
                <a:ea typeface="+mn-lt"/>
                <a:cs typeface="+mn-lt"/>
              </a:rPr>
              <a:t>6</a:t>
            </a: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2800" b="1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n-lt"/>
              <a:cs typeface="+mn-lt"/>
            </a:endParaRPr>
          </a:p>
          <a:p>
            <a:pPr algn="ctr"/>
            <a:r>
              <a:rPr lang="en-US" sz="3000" b="1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Normalization Impact</a:t>
            </a:r>
            <a:endParaRPr lang="en-US" b="1" dirty="0">
              <a:solidFill>
                <a:schemeClr val="bg1"/>
              </a:solidFill>
              <a:latin typeface="Aptos Display"/>
              <a:ea typeface="+mj-ea"/>
              <a:cs typeface="+mj-cs"/>
            </a:endParaRPr>
          </a:p>
          <a:p>
            <a:pPr algn="ctr"/>
            <a:endParaRPr lang="en-US" sz="28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ctr"/>
            <a:r>
              <a:rPr lang="en-US" sz="2800" dirty="0">
                <a:ln w="3175" cmpd="sng">
                  <a:noFill/>
                </a:ln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We examined model performance with normalized data.</a:t>
            </a:r>
            <a:endParaRPr lang="en-US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2800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600" b="1" dirty="0">
              <a:ln w="3175" cmpd="sng">
                <a:noFill/>
              </a:ln>
              <a:solidFill>
                <a:srgbClr val="FFFFFF"/>
              </a:solidFill>
              <a:latin typeface="Aptos"/>
              <a:ea typeface="+mj-ea"/>
              <a:cs typeface="+mj-cs"/>
            </a:endParaRPr>
          </a:p>
          <a:p>
            <a:pPr algn="ctr"/>
            <a:endParaRPr lang="en-US" sz="2000" b="1" dirty="0">
              <a:solidFill>
                <a:schemeClr val="bg1"/>
              </a:solidFill>
              <a:latin typeface="Aptos"/>
              <a:ea typeface="+mj-ea"/>
              <a:cs typeface="+mj-cs"/>
            </a:endParaRPr>
          </a:p>
          <a:p>
            <a:pPr marL="285750" indent="-285750" algn="ctr">
              <a:buFont typeface="Arial"/>
              <a:buChar char="•"/>
            </a:pPr>
            <a:endParaRPr lang="en-US"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ln w="3175" cmpd="sng">
                <a:noFill/>
              </a:ln>
              <a:solidFill>
                <a:srgbClr val="FFFFFF"/>
              </a:solidFill>
              <a:ea typeface="+mj-ea"/>
              <a:cs typeface="+mj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E090768-6898-3C10-F1B7-22EE9E856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F5D7482-97FC-6AA4-CFA6-60C5CD753914}"/>
              </a:ext>
            </a:extLst>
          </p:cNvPr>
          <p:cNvGraphicFramePr/>
          <p:nvPr/>
        </p:nvGraphicFramePr>
        <p:xfrm>
          <a:off x="4840940" y="310295"/>
          <a:ext cx="7171764" cy="5909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30248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00D74-61E1-5439-9AFB-A30EB8381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E6404B17-CFF7-78F4-8AEA-B30E88EBB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8A260569-DF65-0820-891F-F98F55F1B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D5F0AB1-8C3B-92B9-45DB-D9251F1B1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20AB9B0F-3C0C-CCB1-BFB0-722FECA610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704615B1-D8CC-8DB5-9163-60CD92E79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3506C17-40BD-126B-29F5-EB74844C9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B26D00CD-E181-3815-56E4-D3ACCD360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3F617B9-0504-BE4A-94B3-71DB94FE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BD934A7-C841-A876-C81A-D20574A40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6292A-0A00-9D4B-ADC8-7A8784C464DC}"/>
              </a:ext>
            </a:extLst>
          </p:cNvPr>
          <p:cNvSpPr txBox="1"/>
          <p:nvPr/>
        </p:nvSpPr>
        <p:spPr>
          <a:xfrm>
            <a:off x="952108" y="1907256"/>
            <a:ext cx="2730414" cy="494600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n w="3175" cmpd="sng">
                  <a:noFill/>
                </a:ln>
                <a:solidFill>
                  <a:srgbClr val="FFFFFF"/>
                </a:solidFill>
                <a:latin typeface="Aptos Display"/>
                <a:ea typeface="+mn-lt"/>
                <a:cs typeface="+mn-lt"/>
              </a:rPr>
              <a:t>7</a:t>
            </a: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2800" b="1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n-lt"/>
              <a:cs typeface="+mn-lt"/>
            </a:endParaRPr>
          </a:p>
          <a:p>
            <a:pPr algn="ctr"/>
            <a:r>
              <a:rPr lang="en-US" sz="3000" b="1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Radio + Newspaper Only</a:t>
            </a:r>
            <a:endParaRPr lang="en-US" b="1" dirty="0">
              <a:solidFill>
                <a:schemeClr val="bg1"/>
              </a:solidFill>
              <a:latin typeface="Aptos Display"/>
              <a:ea typeface="+mj-ea"/>
              <a:cs typeface="+mj-cs"/>
            </a:endParaRPr>
          </a:p>
          <a:p>
            <a:pPr algn="ctr"/>
            <a:endParaRPr lang="en-US" sz="2800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 algn="ctr"/>
            <a:r>
              <a:rPr lang="en-US" sz="2800" dirty="0">
                <a:ln w="3175" cmpd="sng">
                  <a:noFill/>
                </a:ln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We tested regression with only Radio and Newspaper.</a:t>
            </a:r>
            <a:endParaRPr lang="en-US" dirty="0">
              <a:solidFill>
                <a:schemeClr val="bg1"/>
              </a:solidFill>
              <a:latin typeface="Aptos Display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2800" dirty="0">
              <a:ln w="3175" cmpd="sng">
                <a:noFill/>
              </a:ln>
              <a:solidFill>
                <a:srgbClr val="FFFFFF"/>
              </a:solidFill>
              <a:latin typeface="Aptos Display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600" b="1" dirty="0">
              <a:ln w="3175" cmpd="sng">
                <a:noFill/>
              </a:ln>
              <a:solidFill>
                <a:srgbClr val="FFFFFF"/>
              </a:solidFill>
              <a:latin typeface="Aptos"/>
              <a:ea typeface="+mj-ea"/>
              <a:cs typeface="+mj-cs"/>
            </a:endParaRPr>
          </a:p>
          <a:p>
            <a:pPr algn="ctr"/>
            <a:endParaRPr lang="en-US" sz="2000" b="1" dirty="0">
              <a:solidFill>
                <a:schemeClr val="bg1"/>
              </a:solidFill>
              <a:latin typeface="Aptos"/>
              <a:ea typeface="+mj-ea"/>
              <a:cs typeface="+mj-cs"/>
            </a:endParaRPr>
          </a:p>
          <a:p>
            <a:pPr marL="285750" indent="-285750" algn="ctr">
              <a:buFont typeface="Arial"/>
              <a:buChar char="•"/>
            </a:pPr>
            <a:endParaRPr lang="en-US">
              <a:ea typeface="+mj-ea"/>
              <a:cs typeface="+mj-cs"/>
            </a:endParaRPr>
          </a:p>
          <a:p>
            <a:pPr algn="ctr">
              <a:spcBef>
                <a:spcPct val="0"/>
              </a:spcBef>
              <a:spcAft>
                <a:spcPts val="600"/>
              </a:spcAft>
            </a:pPr>
            <a:endParaRPr lang="en-US" sz="3200" b="1" dirty="0">
              <a:ln w="3175" cmpd="sng">
                <a:noFill/>
              </a:ln>
              <a:solidFill>
                <a:srgbClr val="FFFFFF"/>
              </a:solidFill>
              <a:ea typeface="+mj-ea"/>
              <a:cs typeface="+mj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D6D1280-4244-44C9-4422-5DCAA4E0B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4A9031E-738E-D11F-745F-FD7D16AEF2F8}"/>
              </a:ext>
            </a:extLst>
          </p:cNvPr>
          <p:cNvGraphicFramePr/>
          <p:nvPr/>
        </p:nvGraphicFramePr>
        <p:xfrm>
          <a:off x="4840940" y="310295"/>
          <a:ext cx="7171764" cy="5909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188634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1CF45D-02E1-281F-1C3B-3146361A2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A3AA4D-E6DF-1CB7-BBF4-682A9FD0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70920C-53AA-C406-43DF-EF2DCE748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DE507D-1C6B-9A0E-C2DF-B9EF4742B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13FF7-F264-D642-22C1-5754271BD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845235" cy="4925127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ptos Display"/>
              </a:rPr>
              <a:t>Key Insights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3CBFA6-B668-FC00-4A0D-9A3EBB601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F021B-40E1-046C-5140-01E5E0315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0858" y="1448036"/>
            <a:ext cx="5953630" cy="540596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SzPct val="114999"/>
            </a:pPr>
            <a:r>
              <a:rPr lang="en-US" sz="2000" b="1" dirty="0">
                <a:latin typeface="Aptos Display"/>
                <a:ea typeface="+mn-lt"/>
                <a:cs typeface="+mn-lt"/>
              </a:rPr>
              <a:t>TV advertising is the dominant driver of sales</a:t>
            </a:r>
            <a:r>
              <a:rPr lang="en-US" sz="2000" dirty="0">
                <a:latin typeface="Aptos Display"/>
                <a:ea typeface="+mn-lt"/>
                <a:cs typeface="+mn-lt"/>
              </a:rPr>
              <a:t>, with the strongest impact compared to Radio and Newspaper.</a:t>
            </a:r>
            <a:endParaRPr lang="en-US" sz="2000">
              <a:latin typeface="Aptos Display"/>
            </a:endParaRPr>
          </a:p>
          <a:p>
            <a:pPr>
              <a:buSzPct val="114999"/>
            </a:pPr>
            <a:r>
              <a:rPr lang="en-US" sz="2000" b="1" dirty="0">
                <a:latin typeface="Aptos Display"/>
                <a:ea typeface="+mn-lt"/>
                <a:cs typeface="+mn-lt"/>
              </a:rPr>
              <a:t>Radio has a moderate positive effect</a:t>
            </a:r>
            <a:r>
              <a:rPr lang="en-US" sz="2000" dirty="0">
                <a:latin typeface="Aptos Display"/>
                <a:ea typeface="+mn-lt"/>
                <a:cs typeface="+mn-lt"/>
              </a:rPr>
              <a:t>, useful as a supporting channel but not a main contributor.</a:t>
            </a:r>
            <a:endParaRPr lang="en-US" sz="2000">
              <a:latin typeface="Aptos Display"/>
            </a:endParaRPr>
          </a:p>
          <a:p>
            <a:pPr>
              <a:buSzPct val="114999"/>
            </a:pPr>
            <a:r>
              <a:rPr lang="en-US" sz="2000" b="1" dirty="0">
                <a:latin typeface="Aptos Display"/>
                <a:ea typeface="+mn-lt"/>
                <a:cs typeface="+mn-lt"/>
              </a:rPr>
              <a:t>Newspaper advertising has negligible influence</a:t>
            </a:r>
            <a:r>
              <a:rPr lang="en-US" sz="2000" dirty="0">
                <a:latin typeface="Aptos Display"/>
                <a:ea typeface="+mn-lt"/>
                <a:cs typeface="+mn-lt"/>
              </a:rPr>
              <a:t>, offering very low return on investment.</a:t>
            </a:r>
            <a:endParaRPr lang="en-US" sz="2000">
              <a:latin typeface="Aptos Display"/>
            </a:endParaRPr>
          </a:p>
          <a:p>
            <a:pPr>
              <a:buSzPct val="114999"/>
            </a:pPr>
            <a:r>
              <a:rPr lang="en-US" sz="2000" b="1" dirty="0">
                <a:latin typeface="Aptos Display"/>
                <a:ea typeface="+mn-lt"/>
                <a:cs typeface="+mn-lt"/>
              </a:rPr>
              <a:t>Regression model performance is strong</a:t>
            </a:r>
            <a:r>
              <a:rPr lang="en-US" sz="2000" dirty="0">
                <a:latin typeface="Aptos Display"/>
                <a:ea typeface="+mn-lt"/>
                <a:cs typeface="+mn-lt"/>
              </a:rPr>
              <a:t> when all three predictors are included, showing reliable predictions.</a:t>
            </a:r>
            <a:endParaRPr lang="en-US" sz="2000">
              <a:latin typeface="Aptos Display"/>
            </a:endParaRPr>
          </a:p>
          <a:p>
            <a:pPr>
              <a:buSzPct val="114999"/>
            </a:pPr>
            <a:r>
              <a:rPr lang="en-US" sz="2000" b="1" dirty="0">
                <a:latin typeface="Aptos Display"/>
                <a:ea typeface="+mn-lt"/>
                <a:cs typeface="+mn-lt"/>
              </a:rPr>
              <a:t>Normalization does not change accuracy</a:t>
            </a:r>
            <a:r>
              <a:rPr lang="en-US" sz="2000" dirty="0">
                <a:latin typeface="Aptos Display"/>
                <a:ea typeface="+mn-lt"/>
                <a:cs typeface="+mn-lt"/>
              </a:rPr>
              <a:t>, but it improves interpretability by standardizing coefficients.</a:t>
            </a:r>
            <a:endParaRPr lang="en-US" sz="2000">
              <a:latin typeface="Aptos Display"/>
            </a:endParaRPr>
          </a:p>
          <a:p>
            <a:pPr>
              <a:buSzPct val="114999"/>
            </a:pPr>
            <a:r>
              <a:rPr lang="en-US" sz="2000" b="1" dirty="0">
                <a:latin typeface="Aptos Display"/>
                <a:ea typeface="+mn-lt"/>
                <a:cs typeface="+mn-lt"/>
              </a:rPr>
              <a:t>Excluding TV weakens the model significantly</a:t>
            </a:r>
            <a:r>
              <a:rPr lang="en-US" sz="2000" dirty="0">
                <a:latin typeface="Aptos Display"/>
                <a:ea typeface="+mn-lt"/>
                <a:cs typeface="+mn-lt"/>
              </a:rPr>
              <a:t>, proving its essential role in sales forecasting.</a:t>
            </a:r>
            <a:endParaRPr lang="en-US" sz="2000">
              <a:latin typeface="Aptos Display"/>
            </a:endParaRPr>
          </a:p>
          <a:p>
            <a:pPr>
              <a:buSzPct val="114999"/>
            </a:pPr>
            <a:r>
              <a:rPr lang="en-US" sz="2000" dirty="0">
                <a:latin typeface="Aptos Display"/>
                <a:ea typeface="+mn-lt"/>
                <a:cs typeface="+mn-lt"/>
              </a:rPr>
              <a:t>The regression model can be effectively used for </a:t>
            </a:r>
            <a:r>
              <a:rPr lang="en-US" sz="2000" b="1" dirty="0">
                <a:latin typeface="Aptos Display"/>
                <a:ea typeface="+mn-lt"/>
                <a:cs typeface="+mn-lt"/>
              </a:rPr>
              <a:t>forecasting sales under new advertising budget scenarios</a:t>
            </a:r>
            <a:r>
              <a:rPr lang="en-US" sz="2000" dirty="0">
                <a:latin typeface="Aptos Display"/>
                <a:ea typeface="+mn-lt"/>
                <a:cs typeface="+mn-lt"/>
              </a:rPr>
              <a:t>.</a:t>
            </a:r>
            <a:endParaRPr lang="en-US" sz="2000" dirty="0">
              <a:latin typeface="Aptos Display"/>
            </a:endParaRPr>
          </a:p>
          <a:p>
            <a:pPr>
              <a:buSzPct val="114999"/>
            </a:pPr>
            <a:endParaRPr lang="en-US" dirty="0">
              <a:latin typeface="Aptos Display"/>
            </a:endParaRPr>
          </a:p>
          <a:p>
            <a:pPr marL="0" indent="0">
              <a:buNone/>
            </a:pPr>
            <a:endParaRPr lang="en-US" b="1" dirty="0"/>
          </a:p>
          <a:p>
            <a:pPr>
              <a:buSzPct val="114999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73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6E5E839-040E-4D3E-B50A-8D803DFE4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F3F4B4-A2E6-47B5-92FB-37BEEAFA4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31E38-7707-D270-F160-433A2C0EA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39" y="646713"/>
            <a:ext cx="4295764" cy="557577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Aptos Display"/>
                <a:ea typeface="+mj-lt"/>
                <a:cs typeface="+mj-lt"/>
              </a:rPr>
              <a:t>Recommendations</a:t>
            </a:r>
            <a:endParaRPr lang="en-US" sz="3200" dirty="0">
              <a:solidFill>
                <a:schemeClr val="tx2"/>
              </a:solidFill>
              <a:latin typeface="Aptos Display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124D17-3A82-47D5-80C1-F990ABB1E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4082" y="469900"/>
            <a:ext cx="658298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354B0-8BA4-28A5-682B-1F6BFE233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0106" y="889363"/>
            <a:ext cx="5613283" cy="5741147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Based on the analysis, the following can be recommended :</a:t>
            </a:r>
            <a:endParaRPr lang="en-US" b="1">
              <a:solidFill>
                <a:schemeClr val="bg1"/>
              </a:solidFill>
              <a:latin typeface="Aptos Display"/>
            </a:endParaRPr>
          </a:p>
          <a:p>
            <a:pPr>
              <a:buNone/>
            </a:pPr>
            <a:endParaRPr lang="en-US" sz="1000" b="1" dirty="0">
              <a:solidFill>
                <a:schemeClr val="bg1"/>
              </a:solidFill>
              <a:latin typeface="Aptos Display"/>
              <a:ea typeface="+mn-lt"/>
              <a:cs typeface="+mn-lt"/>
            </a:endParaRPr>
          </a:p>
          <a:p>
            <a:pPr>
              <a:buSzPct val="114999"/>
            </a:pPr>
            <a:r>
              <a:rPr lang="en-US" sz="1800" b="1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Prioritize TV advertising</a:t>
            </a:r>
            <a:r>
              <a:rPr lang="en-US" sz="18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in budget allocation to maximize sales impact.</a:t>
            </a:r>
            <a:endParaRPr lang="en-US" sz="1800">
              <a:solidFill>
                <a:schemeClr val="bg1"/>
              </a:solidFill>
              <a:latin typeface="Aptos Display"/>
            </a:endParaRPr>
          </a:p>
          <a:p>
            <a:pPr>
              <a:buSzPct val="114999"/>
            </a:pPr>
            <a:r>
              <a:rPr lang="en-US" sz="1800" b="1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Maintain Radio as a supporting channel</a:t>
            </a:r>
            <a:r>
              <a:rPr lang="en-US" sz="18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, especially for targeted audiences or local markets.</a:t>
            </a:r>
            <a:endParaRPr lang="en-US" sz="1800">
              <a:solidFill>
                <a:schemeClr val="bg1"/>
              </a:solidFill>
              <a:latin typeface="Aptos Display"/>
            </a:endParaRPr>
          </a:p>
          <a:p>
            <a:pPr>
              <a:buSzPct val="114999"/>
            </a:pPr>
            <a:r>
              <a:rPr lang="en-US" sz="1800" b="1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Reduce or eliminate Newspaper spend</a:t>
            </a:r>
            <a:r>
              <a:rPr lang="en-US" sz="18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, reallocating resources to more effective channels.</a:t>
            </a:r>
            <a:endParaRPr lang="en-US" sz="1800">
              <a:solidFill>
                <a:schemeClr val="bg1"/>
              </a:solidFill>
              <a:latin typeface="Aptos Display"/>
            </a:endParaRPr>
          </a:p>
          <a:p>
            <a:pPr>
              <a:buSzPct val="114999"/>
            </a:pPr>
            <a:r>
              <a:rPr lang="en-US" sz="1800" b="1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Use regression predictions</a:t>
            </a:r>
            <a:r>
              <a:rPr lang="en-US" sz="18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to guide advertising budget planning and scenario testing.</a:t>
            </a:r>
            <a:endParaRPr lang="en-US" sz="1800">
              <a:solidFill>
                <a:schemeClr val="bg1"/>
              </a:solidFill>
              <a:latin typeface="Aptos Display"/>
            </a:endParaRPr>
          </a:p>
          <a:p>
            <a:pPr>
              <a:buSzPct val="114999"/>
            </a:pPr>
            <a:r>
              <a:rPr lang="en-US" sz="1800" b="1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Apply normalization</a:t>
            </a:r>
            <a:r>
              <a:rPr lang="en-US" sz="18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 when comparing feature importance across predictors or adding new variables.</a:t>
            </a:r>
            <a:endParaRPr lang="en-US" sz="1800">
              <a:solidFill>
                <a:schemeClr val="bg1"/>
              </a:solidFill>
              <a:latin typeface="Aptos Display"/>
            </a:endParaRPr>
          </a:p>
          <a:p>
            <a:pPr>
              <a:buSzPct val="114999"/>
            </a:pPr>
            <a:r>
              <a:rPr lang="en-US" sz="1800" b="1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Leverage the model for decision-making</a:t>
            </a:r>
            <a:r>
              <a:rPr lang="en-US" sz="1800" dirty="0">
                <a:solidFill>
                  <a:schemeClr val="bg1"/>
                </a:solidFill>
                <a:latin typeface="Aptos Display"/>
                <a:ea typeface="+mn-lt"/>
                <a:cs typeface="+mn-lt"/>
              </a:rPr>
              <a:t>, ensuring strategies are data-driven and ROI-focused.</a:t>
            </a:r>
            <a:endParaRPr lang="en-US" sz="1800" dirty="0">
              <a:solidFill>
                <a:schemeClr val="bg1"/>
              </a:solidFill>
              <a:latin typeface="Aptos Display"/>
            </a:endParaRPr>
          </a:p>
          <a:p>
            <a:pPr>
              <a:buSzPct val="114999"/>
            </a:pPr>
            <a:endParaRPr lang="en-US" sz="2000" dirty="0">
              <a:solidFill>
                <a:schemeClr val="bg1"/>
              </a:solidFill>
              <a:latin typeface="Aptos Display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4A78C8-C0E0-45DA-BC2C-2C8D4153B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8325" y="635508"/>
            <a:ext cx="6254496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92200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90AA62-BEEE-AFD7-3C63-9FD6A26A0155}"/>
              </a:ext>
            </a:extLst>
          </p:cNvPr>
          <p:cNvSpPr txBox="1"/>
          <p:nvPr/>
        </p:nvSpPr>
        <p:spPr>
          <a:xfrm>
            <a:off x="3272010" y="2732182"/>
            <a:ext cx="58534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latin typeface="Broadway" panose="04040905080B02020502" pitchFamily="82" charset="0"/>
              </a:rPr>
              <a:t>THANK YOU</a:t>
            </a:r>
            <a:endParaRPr lang="en-IN" sz="7200" dirty="0">
              <a:latin typeface="Broadway" panose="04040905080B020205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682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 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 WASTE MANAGMENT</dc:title>
  <dc:creator>Dhanyashree S</dc:creator>
  <cp:revision>2225</cp:revision>
  <dcterms:created xsi:type="dcterms:W3CDTF">2024-06-18T05:57:09Z</dcterms:created>
  <dcterms:modified xsi:type="dcterms:W3CDTF">2025-09-05T21:38:56Z</dcterms:modified>
</cp:coreProperties>
</file>